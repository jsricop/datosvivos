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5" r:id="rId9"/>
    <p:sldId id="263" r:id="rId10"/>
    <p:sldId id="266" r:id="rId11"/>
    <p:sldId id="264" r:id="rId12"/>
    <p:sldId id="276" r:id="rId13"/>
    <p:sldId id="277" r:id="rId14"/>
    <p:sldId id="278" r:id="rId15"/>
    <p:sldId id="265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58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29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9765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4.pn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8.pn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2.pn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6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81253" y="97127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</a:t>
            </a:r>
            <a:r>
              <a:rPr lang="en-US" sz="56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|</a:t>
            </a: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Vivos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12648" y="19202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panorama de los </a:t>
            </a:r>
            <a:r>
              <a:rPr lang="en-US" sz="1900" dirty="0" err="1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9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dirty="0" err="1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abiertos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12648" y="2331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r>
              <a:rPr lang="en-US" sz="21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Colombia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12648" y="2971800"/>
            <a:ext cx="502920" cy="822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115568" y="2971800"/>
            <a:ext cx="1051560" cy="82296"/>
          </a:xfrm>
          <a:prstGeom prst="rect">
            <a:avLst/>
          </a:prstGeom>
          <a:solidFill>
            <a:srgbClr val="F5B04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2167128" y="2971800"/>
            <a:ext cx="2651760" cy="822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12648" y="33101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Jhonatan Rico  ·  Andrea Navarro  ·  Hernán Gutiérrez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" y="36027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GIT TIC — Agencia Nacional de Infraestructura (ANI)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" y="40416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Concurso Datos al Ecosistema 2026: IA para Colombia — MinTIC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2648" y="4297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93 · Reto de Innovación y Tecnología (Reto 7, id 102) · Nivel Avanzado</a:t>
            </a:r>
            <a:endParaRPr lang="en-US" sz="1150" dirty="0"/>
          </a:p>
        </p:txBody>
      </p:sp>
      <p:pic>
        <p:nvPicPr>
          <p:cNvPr id="13" name="Image 0" descr="qr_datosviv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800" y="1523883"/>
            <a:ext cx="2026556" cy="202655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409743" y="1463039"/>
            <a:ext cx="2176670" cy="2148244"/>
          </a:xfrm>
          <a:prstGeom prst="rect">
            <a:avLst/>
          </a:prstGeom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6015160" y="3654135"/>
            <a:ext cx="2965837" cy="380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datosvivos.co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pic>
        <p:nvPicPr>
          <p:cNvPr id="17" name="Graphic 16" descr="Logotipo de la Agencia Nacional de Infraestructura">
            <a:extLst>
              <a:ext uri="{FF2B5EF4-FFF2-40B4-BE49-F238E27FC236}">
                <a16:creationId xmlns:a16="http://schemas.microsoft.com/office/drawing/2014/main" id="{36A2689F-9055-9CDF-01B6-6E7D425074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8180" y="82296"/>
            <a:ext cx="685800" cy="927100"/>
          </a:xfrm>
          <a:prstGeom prst="rect">
            <a:avLst/>
          </a:prstGeom>
        </p:spPr>
      </p:pic>
      <p:pic>
        <p:nvPicPr>
          <p:cNvPr id="18" name="Graphic 17" descr="Imagen logo mintic">
            <a:extLst>
              <a:ext uri="{FF2B5EF4-FFF2-40B4-BE49-F238E27FC236}">
                <a16:creationId xmlns:a16="http://schemas.microsoft.com/office/drawing/2014/main" id="{821713CF-A877-C288-C311-79CB6647E2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7480" y="146867"/>
            <a:ext cx="436217" cy="7979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2920" y="1371600"/>
            <a:ext cx="1863090" cy="2377440"/>
          </a:xfrm>
          <a:prstGeom prst="roundRect">
            <a:avLst>
              <a:gd name="adj" fmla="val 2945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A253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74EAED82-39EB-1A22-7249-23D67A668250}"/>
              </a:ext>
            </a:extLst>
          </p:cNvPr>
          <p:cNvSpPr/>
          <p:nvPr/>
        </p:nvSpPr>
        <p:spPr>
          <a:xfrm>
            <a:off x="2594610" y="1383030"/>
            <a:ext cx="1863090" cy="2377440"/>
          </a:xfrm>
          <a:prstGeom prst="roundRect">
            <a:avLst>
              <a:gd name="adj" fmla="val 2945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A253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Nadie tiene el panorama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721" y="1691640"/>
            <a:ext cx="475488" cy="4754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94610" y="1371600"/>
            <a:ext cx="1863090" cy="2377440"/>
          </a:xfrm>
          <a:prstGeom prst="roundRect">
            <a:avLst>
              <a:gd name="adj" fmla="val 2945"/>
            </a:avLst>
          </a:prstGeom>
          <a:solidFill>
            <a:srgbClr val="FFFFFF"/>
          </a:solidFill>
          <a:ln/>
          <a:effectLst>
            <a:outerShdw blurRad="806450000" dist="241935000"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411" y="1691640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86050" y="2331720"/>
            <a:ext cx="1680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sector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2740914" y="2670048"/>
            <a:ext cx="15704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vista consolidada de sus entidades adscritas: cero control.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686300" y="1371600"/>
            <a:ext cx="1863090" cy="2377440"/>
          </a:xfrm>
          <a:prstGeom prst="roundRect">
            <a:avLst>
              <a:gd name="adj" fmla="val 2945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0101" y="1691640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77740" y="2331720"/>
            <a:ext cx="1680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</a:t>
            </a:r>
            <a:r>
              <a:rPr lang="en-US" sz="1450" b="1" dirty="0" err="1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Gobierno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832604" y="2670048"/>
            <a:ext cx="15704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portales 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federados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el 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centralizado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viven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separados: no existe el agregado nacional.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777990" y="1371600"/>
            <a:ext cx="1863090" cy="2377440"/>
          </a:xfrm>
          <a:prstGeom prst="roundRect">
            <a:avLst>
              <a:gd name="adj" fmla="val 2945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1791" y="1691640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69430" y="2331720"/>
            <a:ext cx="1680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ciudadano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924294" y="2670048"/>
            <a:ext cx="15704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saber de 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avanzada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APIs y SQL para obtener una simple cifra.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502920" y="40690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dato público existe — pero nadie puede verlo completo ni usarlo sin </a:t>
            </a:r>
            <a:r>
              <a:rPr lang="en-US" sz="1400" b="1" dirty="0" err="1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conocimientos</a:t>
            </a:r>
            <a:r>
              <a:rPr lang="en-US" sz="14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 err="1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técnicos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pic>
        <p:nvPicPr>
          <p:cNvPr id="23" name="Graphic 22" descr="Logotipo de la Agencia Nacional de Infraestructura">
            <a:extLst>
              <a:ext uri="{FF2B5EF4-FFF2-40B4-BE49-F238E27FC236}">
                <a16:creationId xmlns:a16="http://schemas.microsoft.com/office/drawing/2014/main" id="{C7F005E4-7EAD-0E6D-269C-89EB71C29B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98180" y="82296"/>
            <a:ext cx="685800" cy="927100"/>
          </a:xfrm>
          <a:prstGeom prst="rect">
            <a:avLst/>
          </a:prstGeom>
        </p:spPr>
      </p:pic>
      <p:pic>
        <p:nvPicPr>
          <p:cNvPr id="24" name="Graphic 23" descr="Imagen logo mintic">
            <a:extLst>
              <a:ext uri="{FF2B5EF4-FFF2-40B4-BE49-F238E27FC236}">
                <a16:creationId xmlns:a16="http://schemas.microsoft.com/office/drawing/2014/main" id="{E13E7F90-DF93-AD72-CC8E-B3B87CED6E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7480" y="146867"/>
            <a:ext cx="436217" cy="7979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" y="2670048"/>
            <a:ext cx="15704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cuántos datasets tiene publicados ni cuántos están al día.</a:t>
            </a:r>
            <a:endParaRPr lang="en-US" sz="1050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2B5C4000-ACF1-D0BD-5DB6-27808B710C90}"/>
              </a:ext>
            </a:extLst>
          </p:cNvPr>
          <p:cNvSpPr/>
          <p:nvPr/>
        </p:nvSpPr>
        <p:spPr>
          <a:xfrm>
            <a:off x="594360" y="2331720"/>
            <a:ext cx="1680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entidad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554480"/>
            <a:ext cx="73152" cy="173736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143000" y="1600200"/>
            <a:ext cx="71551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“Si no conocemos, no podemos medir.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si no medimos, no </a:t>
            </a:r>
            <a:r>
              <a:rPr lang="en-US" sz="3000" b="1" dirty="0" err="1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podemos</a:t>
            </a:r>
            <a:r>
              <a:rPr lang="en-US" sz="30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000" b="1" dirty="0" err="1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mejorar</a:t>
            </a:r>
            <a:r>
              <a:rPr lang="en-US" sz="30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30632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bien gobernado es infraestructura — tan estratégica como las vías.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pic>
        <p:nvPicPr>
          <p:cNvPr id="7" name="Graphic 6" descr="Logotipo de la Agencia Nacional de Infraestructura">
            <a:extLst>
              <a:ext uri="{FF2B5EF4-FFF2-40B4-BE49-F238E27FC236}">
                <a16:creationId xmlns:a16="http://schemas.microsoft.com/office/drawing/2014/main" id="{37A1785B-420A-1C23-1649-EA4BB5EB9E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8180" y="82296"/>
            <a:ext cx="685800" cy="927100"/>
          </a:xfrm>
          <a:prstGeom prst="rect">
            <a:avLst/>
          </a:prstGeom>
        </p:spPr>
      </p:pic>
      <p:pic>
        <p:nvPicPr>
          <p:cNvPr id="8" name="Graphic 7" descr="Imagen logo mintic">
            <a:extLst>
              <a:ext uri="{FF2B5EF4-FFF2-40B4-BE49-F238E27FC236}">
                <a16:creationId xmlns:a16="http://schemas.microsoft.com/office/drawing/2014/main" id="{4ADDA24F-2580-6231-29E5-05DB44A2B7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7480" y="146867"/>
            <a:ext cx="436217" cy="7979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Cuatro </a:t>
            </a:r>
            <a:r>
              <a:rPr lang="en-US" sz="2700" b="1" dirty="0" err="1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ejes</a:t>
            </a:r>
            <a:r>
              <a:rPr lang="en-US" sz="27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uno por audiencia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863090" cy="2743200"/>
          </a:xfrm>
          <a:prstGeom prst="roundRect">
            <a:avLst>
              <a:gd name="adj" fmla="val 2945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863090" cy="658368"/>
          </a:xfrm>
          <a:prstGeom prst="roundRect">
            <a:avLst>
              <a:gd name="adj" fmla="val 8333"/>
            </a:avLst>
          </a:prstGeom>
          <a:solidFill>
            <a:srgbClr val="1ABC9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863090" cy="20116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55" y="1481328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1389888"/>
            <a:ext cx="12230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Panorama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69848" y="1700784"/>
            <a:ext cx="1223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datosvivos.co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30936" y="2148840"/>
            <a:ext cx="160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F8C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DECISORES NACIONALES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7328" y="2423160"/>
            <a:ext cx="17350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nacional en vivo. Para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 en segundos.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94610" y="1325880"/>
            <a:ext cx="1863090" cy="2743200"/>
          </a:xfrm>
          <a:prstGeom prst="roundRect">
            <a:avLst>
              <a:gd name="adj" fmla="val 2945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2594610" y="1325880"/>
            <a:ext cx="1863090" cy="658368"/>
          </a:xfrm>
          <a:prstGeom prst="roundRect">
            <a:avLst>
              <a:gd name="adj" fmla="val 8333"/>
            </a:avLst>
          </a:prstGeom>
          <a:solidFill>
            <a:srgbClr val="F39C1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2594610" y="1783080"/>
            <a:ext cx="1863090" cy="201168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3545" y="1481328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61538" y="1389888"/>
            <a:ext cx="12230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Tablero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161538" y="1700784"/>
            <a:ext cx="1223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/tablero · Power BI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2722626" y="2148840"/>
            <a:ext cx="160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F8C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CABEZAS DE SECTOR Y ENTIDADES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659018" y="2423160"/>
            <a:ext cx="17350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por sector, entidad y territorio. Para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tengan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686300" y="1325880"/>
            <a:ext cx="1863090" cy="2743200"/>
          </a:xfrm>
          <a:prstGeom prst="roundRect">
            <a:avLst>
              <a:gd name="adj" fmla="val 2945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7"/>
          <p:cNvSpPr/>
          <p:nvPr/>
        </p:nvSpPr>
        <p:spPr>
          <a:xfrm>
            <a:off x="4686300" y="1325880"/>
            <a:ext cx="1863090" cy="658368"/>
          </a:xfrm>
          <a:prstGeom prst="roundRect">
            <a:avLst>
              <a:gd name="adj" fmla="val 8333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8"/>
          <p:cNvSpPr/>
          <p:nvPr/>
        </p:nvSpPr>
        <p:spPr>
          <a:xfrm>
            <a:off x="4686300" y="1783080"/>
            <a:ext cx="1863090" cy="201168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5235" y="1481328"/>
            <a:ext cx="301752" cy="30175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53228" y="1389888"/>
            <a:ext cx="12230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Buscador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253228" y="1700784"/>
            <a:ext cx="1223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/buscar · lenguaje natural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4814316" y="2148840"/>
            <a:ext cx="160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F8C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CIUDADANÍA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750708" y="2423160"/>
            <a:ext cx="17350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natural. Con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verificadas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la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Cero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inventados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777990" y="1325880"/>
            <a:ext cx="1863090" cy="2743200"/>
          </a:xfrm>
          <a:prstGeom prst="roundRect">
            <a:avLst>
              <a:gd name="adj" fmla="val 2945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4"/>
          <p:cNvSpPr/>
          <p:nvPr/>
        </p:nvSpPr>
        <p:spPr>
          <a:xfrm>
            <a:off x="6777990" y="1325880"/>
            <a:ext cx="1863090" cy="658368"/>
          </a:xfrm>
          <a:prstGeom prst="roundRect">
            <a:avLst>
              <a:gd name="adj" fmla="val 8333"/>
            </a:avLst>
          </a:prstGeom>
          <a:solidFill>
            <a:srgbClr val="7D3C9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5"/>
          <p:cNvSpPr/>
          <p:nvPr/>
        </p:nvSpPr>
        <p:spPr>
          <a:xfrm>
            <a:off x="6777990" y="1783080"/>
            <a:ext cx="1863090" cy="201168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6925" y="1481328"/>
            <a:ext cx="301752" cy="30175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344918" y="1389888"/>
            <a:ext cx="12230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7344918" y="1700784"/>
            <a:ext cx="1223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/mcp · agentes de IA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6906006" y="2148840"/>
            <a:ext cx="160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F8C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DESARROLLADORES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6842398" y="2423160"/>
            <a:ext cx="17350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como herramientas para Claude, OpenAI y más.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502920" y="4297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accesibilidad en toda la plataforma: </a:t>
            </a:r>
            <a:r>
              <a:rPr lang="en-US" sz="12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voz, narración y alto contraste (Ley 1618 de 2013).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pic>
        <p:nvPicPr>
          <p:cNvPr id="39" name="Graphic 38" descr="Logotipo de la Agencia Nacional de Infraestructura">
            <a:extLst>
              <a:ext uri="{FF2B5EF4-FFF2-40B4-BE49-F238E27FC236}">
                <a16:creationId xmlns:a16="http://schemas.microsoft.com/office/drawing/2014/main" id="{D102D739-A6BB-40E6-0A30-A16CB0278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98180" y="82296"/>
            <a:ext cx="685800" cy="927100"/>
          </a:xfrm>
          <a:prstGeom prst="rect">
            <a:avLst/>
          </a:prstGeom>
        </p:spPr>
      </p:pic>
      <p:pic>
        <p:nvPicPr>
          <p:cNvPr id="40" name="Graphic 39" descr="Imagen logo mintic">
            <a:extLst>
              <a:ext uri="{FF2B5EF4-FFF2-40B4-BE49-F238E27FC236}">
                <a16:creationId xmlns:a16="http://schemas.microsoft.com/office/drawing/2014/main" id="{A700D546-D3D6-523B-4777-9FA649A717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7480" y="146867"/>
            <a:ext cx="436217" cy="7979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8">
            <a:extLst>
              <a:ext uri="{FF2B5EF4-FFF2-40B4-BE49-F238E27FC236}">
                <a16:creationId xmlns:a16="http://schemas.microsoft.com/office/drawing/2014/main" id="{CA3467CC-6346-9801-245E-EBC9A6CF3A00}"/>
              </a:ext>
            </a:extLst>
          </p:cNvPr>
          <p:cNvSpPr/>
          <p:nvPr/>
        </p:nvSpPr>
        <p:spPr>
          <a:xfrm>
            <a:off x="502920" y="3954780"/>
            <a:ext cx="8138160" cy="774954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1/3 · INICIO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panorama en vivo y </a:t>
            </a:r>
            <a:r>
              <a:rPr lang="en-US" sz="2700" b="1" dirty="0" err="1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actualizado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86309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863090" cy="64008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02920" y="13990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25.410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771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en el catálogo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94610" y="1298448"/>
            <a:ext cx="186309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594610" y="1298448"/>
            <a:ext cx="1863090" cy="64008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594610" y="13990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1.421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40330" y="1874520"/>
            <a:ext cx="1771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publicadoras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6300" y="1298448"/>
            <a:ext cx="186309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686300" y="1298448"/>
            <a:ext cx="1863090" cy="64008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686300" y="13990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32020" y="1874520"/>
            <a:ext cx="1771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actualizados al día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77990" y="1298448"/>
            <a:ext cx="186309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777990" y="1298448"/>
            <a:ext cx="1863090" cy="64008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777990" y="1399032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0.3 %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23710" y="1874520"/>
            <a:ext cx="1771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cs typeface="Calibri" pitchFamily="34" charset="-120"/>
              </a:rPr>
              <a:t>con </a:t>
            </a:r>
            <a:r>
              <a:rPr lang="en-US" sz="950" dirty="0" err="1">
                <a:solidFill>
                  <a:srgbClr val="7F8C8D"/>
                </a:solidFill>
                <a:latin typeface="Calibri" pitchFamily="34" charset="0"/>
                <a:cs typeface="Calibri" pitchFamily="34" charset="-120"/>
              </a:rPr>
              <a:t>interacción</a:t>
            </a:r>
            <a:r>
              <a:rPr lang="en-US" sz="950" dirty="0">
                <a:solidFill>
                  <a:srgbClr val="7F8C8D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7F8C8D"/>
                </a:solidFill>
                <a:latin typeface="Calibri" pitchFamily="34" charset="0"/>
                <a:cs typeface="Calibri" pitchFamily="34" charset="-120"/>
              </a:rPr>
              <a:t>ciudadana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2450592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704088" y="2578608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HA CRECIDO EL CATÁLOGO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4088" y="285292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datasets</a:t>
            </a: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hasta 2015  →  </a:t>
            </a: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25.410 hoy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04088" y="3154680"/>
            <a:ext cx="3529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curva se acelera desde 2023 — la federación de portales territoriales duplicó el catálogo visible en dos años.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450592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910328" y="2578608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SECTORES Y TERRITORIO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10328" y="2852928"/>
            <a:ext cx="3529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Planeación (2.618) y Función Pública (2.169)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lideran por sector.</a:t>
            </a:r>
          </a:p>
          <a:p>
            <a:pPr marL="0" indent="0">
              <a:buNone/>
            </a:pPr>
            <a:endParaRPr lang="en-US" sz="1050" dirty="0">
              <a:solidFill>
                <a:srgbClr val="2C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 (5.110), Cundinamarca (1.372) y Antioquia (1.289)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concentran el territorio.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3018" y="40416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9 % al día    </a:t>
            </a:r>
            <a:r>
              <a:rPr lang="en-US" sz="1100" dirty="0">
                <a:solidFill>
                  <a:srgbClr val="F5B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 atrasado    </a:t>
            </a: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71 % con oportunidad de mejora</a:t>
            </a:r>
            <a:r>
              <a:rPr lang="en-US" sz="11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DatosVivos hizo visible este indicador por primera vez.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0973" y="43708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en vivo y </a:t>
            </a:r>
            <a:r>
              <a:rPr lang="en-US" sz="950" i="1" dirty="0" err="1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verificables</a:t>
            </a:r>
            <a:r>
              <a:rPr lang="en-US" sz="9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11.039.185 </a:t>
            </a:r>
            <a:r>
              <a:rPr lang="en-US" sz="950" i="1" dirty="0" err="1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descargas</a:t>
            </a:r>
            <a:r>
              <a:rPr lang="en-US" sz="9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acumuladas</a:t>
            </a:r>
            <a:r>
              <a:rPr lang="en-US" sz="9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3.972.184 vistas/</a:t>
            </a:r>
            <a:r>
              <a:rPr lang="en-US" sz="950" i="1" dirty="0" err="1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r>
              <a:rPr lang="en-US" sz="9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corte 26 de </a:t>
            </a:r>
            <a:r>
              <a:rPr lang="en-US" sz="950" i="1" dirty="0" err="1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</a:t>
            </a:r>
            <a:r>
              <a:rPr lang="en-US" sz="9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2026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pic>
        <p:nvPicPr>
          <p:cNvPr id="31" name="Graphic 30" descr="Logotipo de la Agencia Nacional de Infraestructura">
            <a:extLst>
              <a:ext uri="{FF2B5EF4-FFF2-40B4-BE49-F238E27FC236}">
                <a16:creationId xmlns:a16="http://schemas.microsoft.com/office/drawing/2014/main" id="{175CEA16-C892-F68F-456A-2C464771A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8180" y="82296"/>
            <a:ext cx="685800" cy="927100"/>
          </a:xfrm>
          <a:prstGeom prst="rect">
            <a:avLst/>
          </a:prstGeom>
        </p:spPr>
      </p:pic>
      <p:pic>
        <p:nvPicPr>
          <p:cNvPr id="32" name="Graphic 31" descr="Imagen logo mintic">
            <a:extLst>
              <a:ext uri="{FF2B5EF4-FFF2-40B4-BE49-F238E27FC236}">
                <a16:creationId xmlns:a16="http://schemas.microsoft.com/office/drawing/2014/main" id="{96283558-AA31-B3D2-5EF0-F10FDD632E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7480" y="146867"/>
            <a:ext cx="436217" cy="7979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2/3 · DETALLE ENTIDAD (POWER BI)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control de gestión, en dos clics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57276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6152" y="149961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Semáforo por entidad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16152" y="18013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dentro de la frecuencia declarada, amarillo hasta 2 veces, rojo más de 2 veces. El porcentaje de cumplimiento queda listo para gestión.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09160" y="1371600"/>
            <a:ext cx="39319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57276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22392" y="149961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Uso real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22392" y="18013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Descargas, vistas e interés reciente: muestra qué datasets le importan de verdad a la ciudadanía.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02920" y="2788920"/>
            <a:ext cx="39319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299008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16152" y="29169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Territorio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16152" y="32186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árbol del </a:t>
            </a:r>
            <a:r>
              <a:rPr lang="en-US" sz="10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publicados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cerca del 89 % de cobertura territorial inferida con IA.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09160" y="2788920"/>
            <a:ext cx="39319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99008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22392" y="29169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Filtros del decisor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22392" y="32186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Sector, entidad, acceso, calidad (Ley 1712) y territorio: cada gerente arma su propia vista.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02920" y="4343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IA está detrás del tablero: la depuración, consolidación y clasificación de calidad se definieron con IA.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pic>
        <p:nvPicPr>
          <p:cNvPr id="23" name="Graphic 22" descr="Logotipo de la Agencia Nacional de Infraestructura">
            <a:extLst>
              <a:ext uri="{FF2B5EF4-FFF2-40B4-BE49-F238E27FC236}">
                <a16:creationId xmlns:a16="http://schemas.microsoft.com/office/drawing/2014/main" id="{784B95D9-1246-AC0D-DB95-EE9C3A3FA6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98180" y="82296"/>
            <a:ext cx="685800" cy="927100"/>
          </a:xfrm>
          <a:prstGeom prst="rect">
            <a:avLst/>
          </a:prstGeom>
        </p:spPr>
      </p:pic>
      <p:pic>
        <p:nvPicPr>
          <p:cNvPr id="24" name="Graphic 23" descr="Imagen logo mintic">
            <a:extLst>
              <a:ext uri="{FF2B5EF4-FFF2-40B4-BE49-F238E27FC236}">
                <a16:creationId xmlns:a16="http://schemas.microsoft.com/office/drawing/2014/main" id="{88BD390C-CB3B-A090-3578-BEA56F660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7480" y="146867"/>
            <a:ext cx="436217" cy="7979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3/3 · BUSCAR (LENGUAJE NATURAL)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“¿</a:t>
            </a: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Cuántos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colegios </a:t>
            </a: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públicos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hay </a:t>
            </a: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Boyacá?”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578608" cy="1170432"/>
          </a:xfrm>
          <a:prstGeom prst="roundRect">
            <a:avLst>
              <a:gd name="adj" fmla="val 4688"/>
            </a:avLst>
          </a:prstGeom>
          <a:solidFill>
            <a:srgbClr val="12496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630936" y="1490472"/>
            <a:ext cx="274320" cy="274320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30936" y="1490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2A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8408" y="148132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Entender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9224" y="179222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(Claude Haiku, ~1,5 s) convierte la pregunta en chips: TEMA + TIPO (Cuántos, Total, Comparar, Ranking, Tendencia, Mapa) + TERRITORIO. El diccionario ciudadano traduce: “colegios” → “establecimientos educativos” (~130 equivalencias).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3282696" y="1371600"/>
            <a:ext cx="2578608" cy="1170432"/>
          </a:xfrm>
          <a:prstGeom prst="roundRect">
            <a:avLst>
              <a:gd name="adj" fmla="val 4688"/>
            </a:avLst>
          </a:prstGeom>
          <a:solidFill>
            <a:srgbClr val="12496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410712" y="1490472"/>
            <a:ext cx="274320" cy="274320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410712" y="1490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2A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58184" y="148132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Encontrar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29000" y="179222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multilingual-e5 sobre ChromaDB recuperan el dataset pertinente entre 25 mil; el filtro territorial recorta a Boyacá vía DIVIPOLA.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062472" y="1371600"/>
            <a:ext cx="2578608" cy="1170432"/>
          </a:xfrm>
          <a:prstGeom prst="roundRect">
            <a:avLst>
              <a:gd name="adj" fmla="val 4688"/>
            </a:avLst>
          </a:prstGeom>
          <a:solidFill>
            <a:srgbClr val="12496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190488" y="1490472"/>
            <a:ext cx="274320" cy="274320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190488" y="1490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2A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148132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08776" y="179222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principal: SQL determinista por plantillas según el TIPO — la IA no escribe SQL libre, elige entre estructuras verificadas. Modo avanzado: NL→SoQL generativo viendo SOLO columnas curadas reales.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02920" y="2670048"/>
            <a:ext cx="2578608" cy="1170432"/>
          </a:xfrm>
          <a:prstGeom prst="roundRect">
            <a:avLst>
              <a:gd name="adj" fmla="val 4688"/>
            </a:avLst>
          </a:prstGeom>
          <a:solidFill>
            <a:srgbClr val="12496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30936" y="2788920"/>
            <a:ext cx="274320" cy="274320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30936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2A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8408" y="277977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9224" y="309067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valida columnas, funciones y solo-lectura contra el esquema real ANTES de ejecutar; repara en ciclo acotado o rehúsa. Auto-filtros elegidos SOLO entre ~297.000 valores reales perfilados.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3282696" y="2670048"/>
            <a:ext cx="2578608" cy="1170432"/>
          </a:xfrm>
          <a:prstGeom prst="roundRect">
            <a:avLst>
              <a:gd name="adj" fmla="val 4688"/>
            </a:avLst>
          </a:prstGeom>
          <a:solidFill>
            <a:srgbClr val="12496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410712" y="2788920"/>
            <a:ext cx="274320" cy="274320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410712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2A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58184" y="277977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Ejecutar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429000" y="309067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sobre la bodega Parquet local (milisegundos) o sobre el dato vivo si la fuente cambió. Cada cifra se contrasta contra las filas reales.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6062472" y="2670048"/>
            <a:ext cx="2578608" cy="1170432"/>
          </a:xfrm>
          <a:prstGeom prst="roundRect">
            <a:avLst>
              <a:gd name="adj" fmla="val 4688"/>
            </a:avLst>
          </a:prstGeom>
          <a:solidFill>
            <a:srgbClr val="12496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6190488" y="2788920"/>
            <a:ext cx="274320" cy="274320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190488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2A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37960" y="277977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Responder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208776" y="309067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honesta: “1.721 colegios oficiales de 2.184” — cifra + total sin filtrar + dataset fuente + enlace + toggle del SQL ejecutado. Narrativa anti-alucinación: cero cifras inventadas.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502920" y="41330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15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cifras inventadas      </a:t>
            </a: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r>
              <a:rPr lang="en-US" sz="115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fuente citada      </a:t>
            </a: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s</a:t>
            </a:r>
            <a:r>
              <a:rPr lang="en-US" sz="115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interpretación NL      </a:t>
            </a:r>
            <a:r>
              <a:rPr lang="en-US" sz="1150" i="1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“Preferimos no responder a responder mal.”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pic>
        <p:nvPicPr>
          <p:cNvPr id="37" name="Graphic 36" descr="Logotipo de la Agencia Nacional de Infraestructura">
            <a:extLst>
              <a:ext uri="{FF2B5EF4-FFF2-40B4-BE49-F238E27FC236}">
                <a16:creationId xmlns:a16="http://schemas.microsoft.com/office/drawing/2014/main" id="{DEF28768-6A29-25B9-5630-81748E6447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8180" y="82296"/>
            <a:ext cx="685800" cy="927100"/>
          </a:xfrm>
          <a:prstGeom prst="rect">
            <a:avLst/>
          </a:prstGeom>
        </p:spPr>
      </p:pic>
      <p:pic>
        <p:nvPicPr>
          <p:cNvPr id="38" name="Graphic 37" descr="Imagen logo mintic">
            <a:extLst>
              <a:ext uri="{FF2B5EF4-FFF2-40B4-BE49-F238E27FC236}">
                <a16:creationId xmlns:a16="http://schemas.microsoft.com/office/drawing/2014/main" id="{B170547C-52FD-21F9-D08B-F291315E2A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7480" y="146867"/>
            <a:ext cx="436217" cy="7979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EN VIVO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129844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Veámoslo funcionando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9385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AEC6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datosvivos.co — producción, cifras en vivo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1863090" cy="1188720"/>
          </a:xfrm>
          <a:prstGeom prst="roundRect">
            <a:avLst>
              <a:gd name="adj" fmla="val 4615"/>
            </a:avLst>
          </a:prstGeom>
          <a:solidFill>
            <a:srgbClr val="12496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279017" y="2359152"/>
            <a:ext cx="310896" cy="310896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279017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72A42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1771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Panorama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3090672"/>
            <a:ext cx="16802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AEC6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Home: cifras en vivo del catálogo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393442" y="2880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94610" y="2514600"/>
            <a:ext cx="1863090" cy="1188720"/>
          </a:xfrm>
          <a:prstGeom prst="roundRect">
            <a:avLst>
              <a:gd name="adj" fmla="val 4615"/>
            </a:avLst>
          </a:prstGeom>
          <a:solidFill>
            <a:srgbClr val="12496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370707" y="2359152"/>
            <a:ext cx="310896" cy="310896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370707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72A42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640330" y="2788920"/>
            <a:ext cx="1771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Tablero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86050" y="3090672"/>
            <a:ext cx="16802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AEC6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/tablero: semáforo por entidad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485132" y="2880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86300" y="2514600"/>
            <a:ext cx="1863090" cy="1188720"/>
          </a:xfrm>
          <a:prstGeom prst="roundRect">
            <a:avLst>
              <a:gd name="adj" fmla="val 4615"/>
            </a:avLst>
          </a:prstGeom>
          <a:solidFill>
            <a:srgbClr val="12496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462397" y="2359152"/>
            <a:ext cx="310896" cy="310896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462397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72A42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32020" y="2788920"/>
            <a:ext cx="1771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Buscador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77740" y="3090672"/>
            <a:ext cx="16802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AEC6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“¿Cuántos colegios públicos hay en Boyacá?”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76822" y="2880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777990" y="2514600"/>
            <a:ext cx="1863090" cy="1188720"/>
          </a:xfrm>
          <a:prstGeom prst="roundRect">
            <a:avLst>
              <a:gd name="adj" fmla="val 4615"/>
            </a:avLst>
          </a:prstGeom>
          <a:solidFill>
            <a:srgbClr val="12496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7554087" y="2359152"/>
            <a:ext cx="310896" cy="310896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554087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72A42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23710" y="2788920"/>
            <a:ext cx="1771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Accesible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69430" y="3090672"/>
            <a:ext cx="16802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AEC6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Modo voz + narración (Ley 1618)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FB3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FB3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TECNOLOGÍAS EMERGENTES · 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IA razona, el motor verifica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generativa + arquitectura híbrida — pertinente, aplicable e interpretable. Nunca superficial.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256032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85800" y="2084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CALIDAD DE DATOS (IA)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68880"/>
            <a:ext cx="155448" cy="1554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41401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2.996 reportes administrativos separados (Ley 1712)</a:t>
            </a:r>
            <a:endParaRPr lang="en-US" sz="88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52928"/>
            <a:ext cx="155448" cy="1554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79806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Curación de columnas: LLM + heurísticas</a:t>
            </a:r>
            <a:endParaRPr lang="en-US" sz="88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36976"/>
            <a:ext cx="155448" cy="1554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31821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2.504 vacíos de categoría cerrados (100 %)</a:t>
            </a:r>
            <a:endParaRPr lang="en-US" sz="88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21024"/>
            <a:ext cx="155448" cy="1554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356616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Vocabulario: de 60+ etiquetas a 25 canónicas</a:t>
            </a:r>
            <a:endParaRPr lang="en-US" sz="88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05072"/>
            <a:ext cx="155448" cy="1554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395020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Guardas anti-basura ({{...}}) en toda la ingesta</a:t>
            </a:r>
            <a:endParaRPr lang="en-US" sz="880" dirty="0"/>
          </a:p>
        </p:txBody>
      </p:sp>
      <p:sp>
        <p:nvSpPr>
          <p:cNvPr id="18" name="Shape 11"/>
          <p:cNvSpPr/>
          <p:nvPr/>
        </p:nvSpPr>
        <p:spPr>
          <a:xfrm>
            <a:off x="3291840" y="1938528"/>
            <a:ext cx="256032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2"/>
          <p:cNvSpPr/>
          <p:nvPr/>
        </p:nvSpPr>
        <p:spPr>
          <a:xfrm>
            <a:off x="3474720" y="2084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COMPRENSIÓN (IA)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468880"/>
            <a:ext cx="155448" cy="1554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703320" y="241401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territorial DIVIPOLA (~89 %)</a:t>
            </a:r>
            <a:endParaRPr lang="en-US" sz="88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852928"/>
            <a:ext cx="155448" cy="15544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703320" y="279806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 ciudadano: ~130 equivalencias</a:t>
            </a:r>
            <a:endParaRPr lang="en-US" sz="88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236976"/>
            <a:ext cx="155448" cy="15544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703320" y="31821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de intención (6 tipos de respuesta)</a:t>
            </a:r>
            <a:endParaRPr lang="en-US" sz="88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621024"/>
            <a:ext cx="155448" cy="15544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703320" y="356616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e5 + ChromaDB en ambos caminos</a:t>
            </a:r>
            <a:endParaRPr lang="en-US" sz="88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005072"/>
            <a:ext cx="155448" cy="15544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703320" y="395020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 semántico del camino estructurado</a:t>
            </a:r>
            <a:endParaRPr lang="en-US" sz="880" dirty="0"/>
          </a:p>
        </p:txBody>
      </p:sp>
      <p:sp>
        <p:nvSpPr>
          <p:cNvPr id="30" name="Shape 18"/>
          <p:cNvSpPr/>
          <p:nvPr/>
        </p:nvSpPr>
        <p:spPr>
          <a:xfrm>
            <a:off x="6080760" y="1938528"/>
            <a:ext cx="256032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Text 19"/>
          <p:cNvSpPr/>
          <p:nvPr/>
        </p:nvSpPr>
        <p:spPr>
          <a:xfrm>
            <a:off x="6263640" y="2084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GENERACIÓN VERIFICADA</a:t>
            </a:r>
            <a:endParaRPr lang="en-US" sz="11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468880"/>
            <a:ext cx="155448" cy="155448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492240" y="241401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NL2SQL con verificación de 3 capas (código)</a:t>
            </a:r>
            <a:endParaRPr lang="en-US" sz="88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852928"/>
            <a:ext cx="155448" cy="155448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6492240" y="279806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Reparación acotada; refusal si no verifica</a:t>
            </a:r>
            <a:endParaRPr lang="en-US" sz="880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236976"/>
            <a:ext cx="155448" cy="155448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6492240" y="31821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anti-alucinación (censura números ajenos)</a:t>
            </a:r>
            <a:endParaRPr lang="en-US" sz="880" dirty="0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621024"/>
            <a:ext cx="155448" cy="155448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6492240" y="356616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Bodega Parquet: decide local vs dato vivo</a:t>
            </a:r>
            <a:endParaRPr lang="en-US" sz="88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005072"/>
            <a:ext cx="155448" cy="155448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6492240" y="395020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para cualquier agente de IA</a:t>
            </a:r>
            <a:endParaRPr lang="en-US" sz="880" dirty="0"/>
          </a:p>
        </p:txBody>
      </p:sp>
      <p:sp>
        <p:nvSpPr>
          <p:cNvPr id="42" name="Text 25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43" name="Text 26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  <p:pic>
        <p:nvPicPr>
          <p:cNvPr id="44" name="Graphic 43" descr="Logotipo de la Agencia Nacional de Infraestructura">
            <a:extLst>
              <a:ext uri="{FF2B5EF4-FFF2-40B4-BE49-F238E27FC236}">
                <a16:creationId xmlns:a16="http://schemas.microsoft.com/office/drawing/2014/main" id="{F9FE03AD-F7BD-8FAF-CB86-B09356C939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8180" y="82296"/>
            <a:ext cx="685800" cy="927100"/>
          </a:xfrm>
          <a:prstGeom prst="rect">
            <a:avLst/>
          </a:prstGeom>
        </p:spPr>
      </p:pic>
      <p:pic>
        <p:nvPicPr>
          <p:cNvPr id="45" name="Graphic 44" descr="Imagen logo mintic">
            <a:extLst>
              <a:ext uri="{FF2B5EF4-FFF2-40B4-BE49-F238E27FC236}">
                <a16:creationId xmlns:a16="http://schemas.microsoft.com/office/drawing/2014/main" id="{011A5767-B666-2377-4786-31126F35AA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7480" y="146867"/>
            <a:ext cx="436217" cy="7979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IMPACTO Y ESCALABILIDAD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mismo dato, cuatro decisiones distintas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no es la herramienta: es que cada actor del ecosistema pasa de no poder ver a poder actuar.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3931920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04088" y="168249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Entidad publicadora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04088" y="1975104"/>
            <a:ext cx="3529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</a:t>
            </a: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sabía cuántos datasets tenía ni cuántos al día.  </a:t>
            </a: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Ahora: </a:t>
            </a: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su rezago en segundos y sabe exactamente qué actualizar.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572768"/>
            <a:ext cx="3931920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910328" y="168249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Gerente de sector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10328" y="1975104"/>
            <a:ext cx="3529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</a:t>
            </a: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control sobre sus N entidades adscritas.  </a:t>
            </a: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Ahora: </a:t>
            </a: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consolidado: compara, prioriza y gestiona el cumplimiento.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871216"/>
            <a:ext cx="3931920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704088" y="2980944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MinTIC / política pública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4088" y="3273552"/>
            <a:ext cx="3529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</a:t>
            </a: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portales federados vivían separados, sin agregado.  </a:t>
            </a: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Ahora: </a:t>
            </a: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nacional medible para las Hojas de Ruta de Datos Abiertos.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2871216"/>
            <a:ext cx="3931920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10328" y="2980944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Ciudadanía y prensa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10328" y="3273552"/>
            <a:ext cx="3529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</a:t>
            </a: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un dato exigía saber de APIs y SQL.  </a:t>
            </a: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Ahora: </a:t>
            </a: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en sus palabras y recibe cifra verificada con fuente.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4261104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731520" y="4261104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Escala: </a:t>
            </a:r>
            <a:r>
              <a:rPr lang="en-US" sz="1100" dirty="0">
                <a:solidFill>
                  <a:srgbClr val="D5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 portal es configuración, no desarrollo — el patrón sirve a cualquier país con Socrata, CKAN o DCAT, y el MCP permite construir encima.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75320" y="48412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pic>
        <p:nvPicPr>
          <p:cNvPr id="21" name="Graphic 20" descr="Logotipo de la Agencia Nacional de Infraestructura">
            <a:extLst>
              <a:ext uri="{FF2B5EF4-FFF2-40B4-BE49-F238E27FC236}">
                <a16:creationId xmlns:a16="http://schemas.microsoft.com/office/drawing/2014/main" id="{97D48166-E617-5678-71CE-AD481C03CB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8180" y="82296"/>
            <a:ext cx="685800" cy="927100"/>
          </a:xfrm>
          <a:prstGeom prst="rect">
            <a:avLst/>
          </a:prstGeom>
        </p:spPr>
      </p:pic>
      <p:pic>
        <p:nvPicPr>
          <p:cNvPr id="22" name="Graphic 21" descr="Imagen logo mintic">
            <a:extLst>
              <a:ext uri="{FF2B5EF4-FFF2-40B4-BE49-F238E27FC236}">
                <a16:creationId xmlns:a16="http://schemas.microsoft.com/office/drawing/2014/main" id="{57066EEC-2FA8-1EF9-77DC-FF060C56C4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7480" y="146867"/>
            <a:ext cx="436217" cy="7979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RIGOR TÉCNICO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CRISP-ML(Q): qué se hizo en cada fase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649224" y="1508760"/>
            <a:ext cx="292608" cy="292608"/>
          </a:xfrm>
          <a:prstGeom prst="ellipse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49224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33272" y="15087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Entender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1847088"/>
            <a:ext cx="22311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dolor del decisor sin panorama; 6 portales y 3 protocolos (Socrata, CKAN, DCAT) mapeados como fuentes.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438144" y="1508760"/>
            <a:ext cx="292608" cy="292608"/>
          </a:xfrm>
          <a:prstGeom prst="ellipse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438144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22192" y="15087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56432" y="1847088"/>
            <a:ext cx="22311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diario con upsert idempotente (0 duplicados), clasificación Ley 1712, curación de columnas e inferencia DIVIPOLA.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1371600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227064" y="1508760"/>
            <a:ext cx="292608" cy="292608"/>
          </a:xfrm>
          <a:prstGeom prst="ellipse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227064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11112" y="15087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5352" y="1847088"/>
            <a:ext cx="22311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NL2SQL generativo + verificación de 3 capas; embeddings e5 + ChromaDB; clasificador de intención con 6 tipos de respuesta.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944368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49224" y="3081528"/>
            <a:ext cx="292608" cy="292608"/>
          </a:xfrm>
          <a:prstGeom prst="ellipse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49224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33272" y="3081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" y="3419856"/>
            <a:ext cx="22311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sets (18/18 chips y 38/38 NL→SoQL, 0 cifras falsas) + ciclo ciudadano: 50 preguntas pre-registradas en 5 ciclos; 48 datasets ejercitados (32 desde bodega, 9 en vivo).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2944368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438144" y="3081528"/>
            <a:ext cx="292608" cy="292608"/>
          </a:xfrm>
          <a:prstGeom prst="ellipse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438144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22192" y="3081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Desplegar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56432" y="3419856"/>
            <a:ext cx="22311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en datosvivos.co con Docker Compose reproducible; imagen horneada; guía de validación para el jurado.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2944368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6227064" y="3081528"/>
            <a:ext cx="292608" cy="292608"/>
          </a:xfrm>
          <a:prstGeom prst="ellipse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227064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11112" y="3081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Monitorear (Q)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45352" y="3419856"/>
            <a:ext cx="22311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deriva del catálogo vivo: reindex nocturno, re-clasificación continua y telemetría anónima de lo consultado.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45537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adaptación central: en vez de entrenar y congelar un modelo, cada consulta vive su propio ciclo — generación (LLM), verificación (código), ejecución.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pic>
        <p:nvPicPr>
          <p:cNvPr id="37" name="Graphic 36" descr="Logotipo de la Agencia Nacional de Infraestructura">
            <a:extLst>
              <a:ext uri="{FF2B5EF4-FFF2-40B4-BE49-F238E27FC236}">
                <a16:creationId xmlns:a16="http://schemas.microsoft.com/office/drawing/2014/main" id="{F565F3C4-3574-18E0-8951-540E8328D8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8180" y="82296"/>
            <a:ext cx="685800" cy="927100"/>
          </a:xfrm>
          <a:prstGeom prst="rect">
            <a:avLst/>
          </a:prstGeom>
        </p:spPr>
      </p:pic>
      <p:pic>
        <p:nvPicPr>
          <p:cNvPr id="38" name="Graphic 37" descr="Imagen logo mintic">
            <a:extLst>
              <a:ext uri="{FF2B5EF4-FFF2-40B4-BE49-F238E27FC236}">
                <a16:creationId xmlns:a16="http://schemas.microsoft.com/office/drawing/2014/main" id="{BC8FB032-1B8C-0567-5E64-47E977005B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7480" y="146867"/>
            <a:ext cx="436217" cy="7979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>
            <a:extLst>
              <a:ext uri="{FF2B5EF4-FFF2-40B4-BE49-F238E27FC236}">
                <a16:creationId xmlns:a16="http://schemas.microsoft.com/office/drawing/2014/main" id="{B8A244F6-44FD-1E95-2953-02F17CA15340}"/>
              </a:ext>
            </a:extLst>
          </p:cNvPr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QUÉ ESTÁ HECHO</a:t>
            </a:r>
            <a:endParaRPr lang="en-US" sz="1100" dirty="0"/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0DEDD3B2-955C-720E-7805-377B0A948825}"/>
              </a:ext>
            </a:extLst>
          </p:cNvPr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Fuentes, datasets y variables</a:t>
            </a:r>
            <a:endParaRPr lang="en-US" sz="2500" dirty="0"/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B9C4D677-0DCA-011B-96F2-57E3A011AD6C}"/>
              </a:ext>
            </a:extLst>
          </p:cNvPr>
          <p:cNvSpPr/>
          <p:nvPr/>
        </p:nvSpPr>
        <p:spPr>
          <a:xfrm>
            <a:off x="502920" y="1156716"/>
            <a:ext cx="3931920" cy="2990088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A253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148B3345-1B1E-B284-69CA-E23027423571}"/>
              </a:ext>
            </a:extLst>
          </p:cNvPr>
          <p:cNvSpPr/>
          <p:nvPr/>
        </p:nvSpPr>
        <p:spPr>
          <a:xfrm>
            <a:off x="704088" y="1285712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FUENTES BASE DEL PROCESO</a:t>
            </a:r>
          </a:p>
          <a:p>
            <a:pPr marL="0" indent="0">
              <a:buNone/>
            </a:pPr>
            <a:r>
              <a:rPr lang="en-US" sz="1050" b="1" kern="0" spc="100" dirty="0">
                <a:solidFill>
                  <a:srgbClr val="1ABC9C"/>
                </a:solidFill>
                <a:latin typeface="Trebuchet MS" pitchFamily="34" charset="0"/>
              </a:rPr>
              <a:t>48 DATASETS EN EL PROCESO DE EVALUACIÓN</a:t>
            </a:r>
            <a:endParaRPr lang="en-US" sz="1050" dirty="0"/>
          </a:p>
        </p:txBody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0CBB2564-3936-D4C0-9891-1BC7C42C3F32}"/>
              </a:ext>
            </a:extLst>
          </p:cNvPr>
          <p:cNvSpPr/>
          <p:nvPr/>
        </p:nvSpPr>
        <p:spPr>
          <a:xfrm>
            <a:off x="704088" y="1627632"/>
            <a:ext cx="35295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DIVIPOLA (gdxc-w37w, DANE): 1.122 municipios + 32 deptos — columna vertebral territorial</a:t>
            </a:r>
            <a:endParaRPr lang="en-US" sz="880" dirty="0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691A73CA-23CD-952C-9A2C-441F28FBE261}"/>
              </a:ext>
            </a:extLst>
          </p:cNvPr>
          <p:cNvSpPr/>
          <p:nvPr/>
        </p:nvSpPr>
        <p:spPr>
          <a:xfrm>
            <a:off x="704088" y="1970532"/>
            <a:ext cx="35295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DIVIPOLA de entidad (~17.900 datasets) — geolocaliza las 1.421 entidades</a:t>
            </a:r>
            <a:endParaRPr lang="en-US" sz="880" dirty="0"/>
          </a:p>
        </p:txBody>
      </p:sp>
      <p:sp>
        <p:nvSpPr>
          <p:cNvPr id="52" name="Text 6">
            <a:extLst>
              <a:ext uri="{FF2B5EF4-FFF2-40B4-BE49-F238E27FC236}">
                <a16:creationId xmlns:a16="http://schemas.microsoft.com/office/drawing/2014/main" id="{C874C3FB-E156-7B00-0F5F-B56F79C1ABB5}"/>
              </a:ext>
            </a:extLst>
          </p:cNvPr>
          <p:cNvSpPr/>
          <p:nvPr/>
        </p:nvSpPr>
        <p:spPr>
          <a:xfrm>
            <a:off x="704088" y="2313432"/>
            <a:ext cx="35295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Socrata datos.gov.co (12.164, cosecha diaria)</a:t>
            </a:r>
            <a:endParaRPr lang="en-US" sz="880" dirty="0"/>
          </a:p>
        </p:txBody>
      </p:sp>
      <p:sp>
        <p:nvSpPr>
          <p:cNvPr id="53" name="Text 7">
            <a:extLst>
              <a:ext uri="{FF2B5EF4-FFF2-40B4-BE49-F238E27FC236}">
                <a16:creationId xmlns:a16="http://schemas.microsoft.com/office/drawing/2014/main" id="{02CF6ACD-BA08-1B33-EA70-4893A63EAD14}"/>
              </a:ext>
            </a:extLst>
          </p:cNvPr>
          <p:cNvSpPr/>
          <p:nvPr/>
        </p:nvSpPr>
        <p:spPr>
          <a:xfrm>
            <a:off x="704088" y="2656332"/>
            <a:ext cx="35295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DCAT IGAC / Colombia en Mapas (6.699)</a:t>
            </a:r>
            <a:endParaRPr lang="en-US" sz="880" dirty="0"/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EB7882E0-57D9-55AC-4781-1D0D2AC3B4CA}"/>
              </a:ext>
            </a:extLst>
          </p:cNvPr>
          <p:cNvSpPr/>
          <p:nvPr/>
        </p:nvSpPr>
        <p:spPr>
          <a:xfrm>
            <a:off x="704088" y="2999232"/>
            <a:ext cx="35295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 CKAN: Bogotá (4.329) · Cali (1.236) · Valle (106)</a:t>
            </a:r>
            <a:endParaRPr lang="en-US" sz="880" dirty="0"/>
          </a:p>
        </p:txBody>
      </p:sp>
      <p:sp>
        <p:nvSpPr>
          <p:cNvPr id="55" name="Text 9">
            <a:extLst>
              <a:ext uri="{FF2B5EF4-FFF2-40B4-BE49-F238E27FC236}">
                <a16:creationId xmlns:a16="http://schemas.microsoft.com/office/drawing/2014/main" id="{49288A9A-2AC9-603C-1636-D92F3AF1CBF8}"/>
              </a:ext>
            </a:extLst>
          </p:cNvPr>
          <p:cNvSpPr/>
          <p:nvPr/>
        </p:nvSpPr>
        <p:spPr>
          <a:xfrm>
            <a:off x="704088" y="3342132"/>
            <a:ext cx="35295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MEDATA Medellín (823)</a:t>
            </a:r>
            <a:endParaRPr lang="en-US" sz="88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491F709C-2403-296B-AA42-74FCCD385276}"/>
              </a:ext>
            </a:extLst>
          </p:cNvPr>
          <p:cNvSpPr/>
          <p:nvPr/>
        </p:nvSpPr>
        <p:spPr>
          <a:xfrm>
            <a:off x="704088" y="3685032"/>
            <a:ext cx="35295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consolidada: 60+ etiquetas → 25 canónicas, 100 % cobertura</a:t>
            </a:r>
            <a:endParaRPr lang="en-US" sz="880" dirty="0"/>
          </a:p>
        </p:txBody>
      </p:sp>
      <p:sp>
        <p:nvSpPr>
          <p:cNvPr id="57" name="Shape 11">
            <a:extLst>
              <a:ext uri="{FF2B5EF4-FFF2-40B4-BE49-F238E27FC236}">
                <a16:creationId xmlns:a16="http://schemas.microsoft.com/office/drawing/2014/main" id="{86CA694A-3428-D5C9-BCF4-E3B016A97456}"/>
              </a:ext>
            </a:extLst>
          </p:cNvPr>
          <p:cNvSpPr/>
          <p:nvPr/>
        </p:nvSpPr>
        <p:spPr>
          <a:xfrm>
            <a:off x="4709160" y="1207008"/>
            <a:ext cx="393192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/>
          <a:effectLst>
            <a:outerShdw blurRad="806450000" dist="241935000"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8" name="Text 12">
            <a:extLst>
              <a:ext uri="{FF2B5EF4-FFF2-40B4-BE49-F238E27FC236}">
                <a16:creationId xmlns:a16="http://schemas.microsoft.com/office/drawing/2014/main" id="{82030CD5-FE99-7710-9E93-05776546D204}"/>
              </a:ext>
            </a:extLst>
          </p:cNvPr>
          <p:cNvSpPr/>
          <p:nvPr/>
        </p:nvSpPr>
        <p:spPr>
          <a:xfrm>
            <a:off x="4910328" y="133502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 EN PRODUCCIÓN</a:t>
            </a:r>
            <a:endParaRPr lang="en-US" sz="1050" dirty="0"/>
          </a:p>
        </p:txBody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E420A476-C882-A0F2-BA4B-70D8B488E5B2}"/>
              </a:ext>
            </a:extLst>
          </p:cNvPr>
          <p:cNvSpPr/>
          <p:nvPr/>
        </p:nvSpPr>
        <p:spPr>
          <a:xfrm>
            <a:off x="4910328" y="1627632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8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variables</a:t>
            </a: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vista maestra del decisor (identidad, catalogación, semáforo de frescura, uso, señales sociales, calidad, acceso)</a:t>
            </a:r>
            <a:endParaRPr lang="en-US" sz="880" dirty="0"/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931E22ED-0F1F-1F79-A5A4-9426ADBA1583}"/>
              </a:ext>
            </a:extLst>
          </p:cNvPr>
          <p:cNvSpPr/>
          <p:nvPr/>
        </p:nvSpPr>
        <p:spPr>
          <a:xfrm>
            <a:off x="4910328" y="2103120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8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variables</a:t>
            </a: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vista por entidad (datasets verdes/amarillos/rojos, consultas, % de cumplimiento)</a:t>
            </a:r>
            <a:endParaRPr lang="en-US" sz="880" dirty="0"/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AEFED650-4B3C-FF22-677D-892CA42EDB09}"/>
              </a:ext>
            </a:extLst>
          </p:cNvPr>
          <p:cNvSpPr/>
          <p:nvPr/>
        </p:nvSpPr>
        <p:spPr>
          <a:xfrm>
            <a:off x="4910328" y="2578608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8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Curación semántica por columna</a:t>
            </a: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tipo (geo / fecha / métrica / dimensión), subtipo y confianza — habilita el NL2SQL</a:t>
            </a:r>
            <a:endParaRPr lang="en-US" sz="880" dirty="0"/>
          </a:p>
        </p:txBody>
      </p:sp>
      <p:sp>
        <p:nvSpPr>
          <p:cNvPr id="62" name="Text 16">
            <a:extLst>
              <a:ext uri="{FF2B5EF4-FFF2-40B4-BE49-F238E27FC236}">
                <a16:creationId xmlns:a16="http://schemas.microsoft.com/office/drawing/2014/main" id="{3A9EB149-4766-21A4-EFC4-0D4429ADF295}"/>
              </a:ext>
            </a:extLst>
          </p:cNvPr>
          <p:cNvSpPr/>
          <p:nvPr/>
        </p:nvSpPr>
        <p:spPr>
          <a:xfrm>
            <a:off x="4910328" y="3054096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8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~297.000 valores filtrables</a:t>
            </a: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perfilados: la IA filtra eligiendo entre valores reales, nunca escribiendo SQL libre</a:t>
            </a:r>
            <a:endParaRPr lang="en-US" sz="880" dirty="0"/>
          </a:p>
        </p:txBody>
      </p:sp>
      <p:sp>
        <p:nvSpPr>
          <p:cNvPr id="63" name="Text 17">
            <a:extLst>
              <a:ext uri="{FF2B5EF4-FFF2-40B4-BE49-F238E27FC236}">
                <a16:creationId xmlns:a16="http://schemas.microsoft.com/office/drawing/2014/main" id="{35E73024-8858-84B3-28E7-02D933488527}"/>
              </a:ext>
            </a:extLst>
          </p:cNvPr>
          <p:cNvSpPr/>
          <p:nvPr/>
        </p:nvSpPr>
        <p:spPr>
          <a:xfrm>
            <a:off x="4910328" y="3529584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8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datasets ejercitados</a:t>
            </a:r>
            <a:r>
              <a:rPr lang="en-US" sz="8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último ciclo de evaluación (detalle en respaldo B7)</a:t>
            </a:r>
            <a:endParaRPr lang="en-US" sz="880" dirty="0"/>
          </a:p>
        </p:txBody>
      </p:sp>
      <p:sp>
        <p:nvSpPr>
          <p:cNvPr id="64" name="Shape 18">
            <a:extLst>
              <a:ext uri="{FF2B5EF4-FFF2-40B4-BE49-F238E27FC236}">
                <a16:creationId xmlns:a16="http://schemas.microsoft.com/office/drawing/2014/main" id="{F08B79C7-A332-3089-14B7-9642417FC5C2}"/>
              </a:ext>
            </a:extLst>
          </p:cNvPr>
          <p:cNvSpPr/>
          <p:nvPr/>
        </p:nvSpPr>
        <p:spPr>
          <a:xfrm>
            <a:off x="502920" y="4169664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5" name="Text 19">
            <a:extLst>
              <a:ext uri="{FF2B5EF4-FFF2-40B4-BE49-F238E27FC236}">
                <a16:creationId xmlns:a16="http://schemas.microsoft.com/office/drawing/2014/main" id="{ECA30A3E-9F6E-8E7F-B3DF-165CC23AA5A0}"/>
              </a:ext>
            </a:extLst>
          </p:cNvPr>
          <p:cNvSpPr/>
          <p:nvPr/>
        </p:nvSpPr>
        <p:spPr>
          <a:xfrm>
            <a:off x="731520" y="416966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estamos limitados a estos: </a:t>
            </a:r>
            <a:r>
              <a:rPr lang="en-US" sz="1050" dirty="0">
                <a:solidFill>
                  <a:srgbClr val="D5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de </a:t>
            </a:r>
            <a:r>
              <a:rPr lang="en-US" sz="1050" dirty="0" err="1">
                <a:solidFill>
                  <a:srgbClr val="D5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050" dirty="0">
                <a:solidFill>
                  <a:srgbClr val="D5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25.410 datasets del catálogo es consultable — índice semántico completo + acceso por lenguaje natural. 10.280 responden además desde copia local en milisegundos.</a:t>
            </a:r>
            <a:endParaRPr lang="en-US" sz="1050" dirty="0"/>
          </a:p>
        </p:txBody>
      </p:sp>
      <p:sp>
        <p:nvSpPr>
          <p:cNvPr id="66" name="Text 20">
            <a:extLst>
              <a:ext uri="{FF2B5EF4-FFF2-40B4-BE49-F238E27FC236}">
                <a16:creationId xmlns:a16="http://schemas.microsoft.com/office/drawing/2014/main" id="{B409DFDC-EF9F-19F9-6988-7790C8F57F32}"/>
              </a:ext>
            </a:extLst>
          </p:cNvPr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67" name="Text 21">
            <a:extLst>
              <a:ext uri="{FF2B5EF4-FFF2-40B4-BE49-F238E27FC236}">
                <a16:creationId xmlns:a16="http://schemas.microsoft.com/office/drawing/2014/main" id="{FB6D8207-8302-28EC-8280-813467F078E2}"/>
              </a:ext>
            </a:extLst>
          </p:cNvPr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DETALLE DATASETS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 datasets ejercitados en el ciclo de evaluación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preguntas ciudadanas contra producción (5 ciclos) · 32 respondidas desde la bodega Parquet, 9 en vivo · IDs verificables en datos.gov.co · corte 23 de julio de 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26bn-e42j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otorgados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502920" y="1569110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28vu-5tx7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SENA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502920" y="1748333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2uuh-awp9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Comparendos B/quilla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502920" y="1927555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37hf-6yc2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Contratación Emserchía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502920" y="2106778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49da-69ff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Viviendas macroproyectos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52tq-ag6c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judiciales ANDJE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502920" y="2465222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5wck-szir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 ed. superior MEN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502920" y="2644445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6jmc-vaxk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 en accidentes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502920" y="2823667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72sg-cybi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Lesiones (Policía)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502920" y="3002890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7b2d-zmwd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sólidos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502920" y="3182112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7ffd-kpmz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PQRS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502920" y="3361334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7i66-rps2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vías INVÍAS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502920" y="3540557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7wm8-w5ad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Extranjeros no residentes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502920" y="3719779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8u7u-645t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Vacunación Antioquia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02920" y="3899002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9vha-vh9n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Hurto por modalidades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502920" y="4078224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d4fr-sbn2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Hurto por modalidades (2)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3276600" y="1389888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a3jg-j674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CEFIT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3276600" y="1569110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a4bc-a9tq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Desastres naturales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3276600" y="1748333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actn-47cb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Funcionarios Procuraduría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3276600" y="1927555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aj2e-7jwg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 automotor Fusagasugá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3276600" y="2106778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axk9-g2nh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Tasas de captación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3276600" y="2286000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br9a-gygu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regalías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3276600" y="2465222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c698-wqig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 energía CHEC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3276600" y="2644445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d3ft-wu2b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agua río Cauca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3276600" y="2823667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d4t4-daja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 de acueducto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3276600" y="3002890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du92-6y56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Flota SITP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3276600" y="3182112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fky2-9rg4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Subsidios mejoramiento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3276600" y="3361334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fvq4-wwtz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Empleos por entidad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3276600" y="3540557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h2yr-zfb2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Subsidios de vivienda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3276600" y="3719779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hp9r-jxuu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 IDEAM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3276600" y="3899002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i7cb-raxc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 INVIMA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3276600" y="4078224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i9yn-r5bf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Palmira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6050280" y="1389888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ik3u-sdxz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Capresoca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6050280" y="1569110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j3e8-4hke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Pensionados Fonprecon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6050280" y="1748333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k5bd-cym5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medicina especializada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6050280" y="1927555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k7xp-z2d2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Trámites y OPA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6050280" y="2106778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kekd-7v7h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aire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6050280" y="2286000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m8fd-ahd9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Homicidio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6050280" y="2465222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mjt9-2zwc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privada de libertad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6050280" y="2644445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mv2e-prx5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Divipole elecciones 2023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6050280" y="2823667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nb3d-v3n7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Establecimientos y sucursales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6050280" y="3002890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qpf2-j35h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 escolar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6050280" y="3182112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s3n2-sqjp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Importadores disp. médicos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6050280" y="3361334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sras-4t5p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educación ETC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6050280" y="3540557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u2wk-tfe3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Captaciones por municipio</a:t>
            </a:r>
            <a:endParaRPr lang="en-US" sz="740" dirty="0"/>
          </a:p>
        </p:txBody>
      </p:sp>
      <p:sp>
        <p:nvSpPr>
          <p:cNvPr id="50" name="Text 48"/>
          <p:cNvSpPr/>
          <p:nvPr/>
        </p:nvSpPr>
        <p:spPr>
          <a:xfrm>
            <a:off x="6050280" y="3719779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u8vy-4dkb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Subsidios vivienda militar</a:t>
            </a:r>
            <a:endParaRPr lang="en-US" sz="740" dirty="0"/>
          </a:p>
        </p:txBody>
      </p:sp>
      <p:sp>
        <p:nvSpPr>
          <p:cNvPr id="51" name="Text 49"/>
          <p:cNvSpPr/>
          <p:nvPr/>
        </p:nvSpPr>
        <p:spPr>
          <a:xfrm>
            <a:off x="6050280" y="3899002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ucrd-5yjt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Iglesias</a:t>
            </a:r>
            <a:endParaRPr lang="en-US" sz="740" dirty="0"/>
          </a:p>
        </p:txBody>
      </p:sp>
      <p:sp>
        <p:nvSpPr>
          <p:cNvPr id="52" name="Text 50"/>
          <p:cNvSpPr/>
          <p:nvPr/>
        </p:nvSpPr>
        <p:spPr>
          <a:xfrm>
            <a:off x="6050280" y="4078224"/>
            <a:ext cx="259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y399-rzwf  </a:t>
            </a:r>
            <a:r>
              <a:rPr lang="en-US" sz="74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Connacionales registrados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502920" y="4343400"/>
            <a:ext cx="8138160" cy="384048"/>
          </a:xfrm>
          <a:prstGeom prst="roundRect">
            <a:avLst>
              <a:gd name="adj" fmla="val 14286"/>
            </a:avLst>
          </a:prstGeom>
          <a:solidFill>
            <a:srgbClr val="EAF2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704088" y="4343400"/>
            <a:ext cx="7735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vivo: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emd6-ef7x Establecimientos Educativos (“1.721 colegios oficiales de 2.184 en Boyacá”) · qpq9-e4ne en el ejemplo de cruce del MCP. La solución consulta cualquiera de los 25.357.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DETALLE VARIABLES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Variables: las vistas que alimentan todo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3192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704088" y="1325880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v_dataset_status_decisor — 29 VARIABLES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04088" y="1609344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Identidad: </a:t>
            </a:r>
            <a:r>
              <a:rPr lang="en-US" sz="82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dataset_id, dataset_name, entity_id, entity_name, entity_abbrev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04088" y="1924812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Catalogación: </a:t>
            </a:r>
            <a:r>
              <a:rPr lang="en-US" sz="82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(25 canónicas), sector, jurisdicción, cobertura geográfica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04088" y="224028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Semáforo: </a:t>
            </a:r>
            <a:r>
              <a:rPr lang="en-US" sz="82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rows_updated_at, update_frequency, frequency_days, days_since_update, status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704088" y="255574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</a:t>
            </a:r>
            <a:r>
              <a:rPr lang="en-US" sz="82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row_count, page_views (total/semana/mes), download_count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704088" y="2871216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sociales: </a:t>
            </a:r>
            <a:r>
              <a:rPr lang="en-US" sz="82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number_of_comments, total_times_rated (NULL = sin interacción, lectura honesta)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04088" y="3186684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acceso: </a:t>
            </a:r>
            <a:r>
              <a:rPr lang="en-US" sz="82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quality_flag, es_federado, acceso_datos, socrata_url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709160" y="1207008"/>
            <a:ext cx="39319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910328" y="1325880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v_entity_summary_decisor — 14 VARIABLES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10328" y="1609344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entidad: n_datasets (directos/federados), consultas 30d y totales, último acceso, datasets verdes / amarillos / rojos / sin fecha, y pct_verdes — el indicador de cumplimiento listo para gestión.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4709160" y="2441448"/>
            <a:ext cx="39319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910328" y="2560320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dataset_columns_curated — HABILITA EL NL2SQL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10328" y="2843784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columna anotada: semantic_type (geo / fecha / métrica / dimensión / exclude), subtipo (código, coordenada, año, conteo, moneda, tasa…) y confianza (high / medium / low).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502920" y="370332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731520" y="3703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~297.000 valores filtrables reales </a:t>
            </a:r>
            <a:r>
              <a:rPr lang="en-US" sz="950" dirty="0">
                <a:solidFill>
                  <a:srgbClr val="D5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perfilados automáticamente desde la bodega (dataset_filter_values): la IA construye filtros eligiendo entre valores que existen — “públicos” → SECTOR = 'OFICIAL' — nunca escribiendo SQL libre.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4074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fuente de verdad: panorama web, tablero Power BI, CSVs públicos y MCP leen las mismas vistas de PostgreSQL.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DatosVivos demuestra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931920" cy="6400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04088" y="1517904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brecha no es de cantidad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1828800"/>
            <a:ext cx="3529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25 mil datasets, el problema del dato abierto colombiano es de gobernanza y acceso: los datos existen, pero no se mantienen frescos y consultarlos exigía capacidades técnicas.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31920" cy="6400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910328" y="1517904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Medir cambia la conversación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0328" y="1828800"/>
            <a:ext cx="3529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comparar cada dataset contra la frecuencia que su propia entidad declaró, el incumplimiento deja de ser percepción y se vuelve un indicador gestionable por entidad y sector.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02920" y="2852928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502920" y="2852928"/>
            <a:ext cx="3931920" cy="6400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04088" y="2999232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heterogeneidad se absorbe una vez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" y="3310128"/>
            <a:ext cx="3529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3 protocolos y metadata desigual con IA (curación, clasificación, inferencia) paga el costo de la federación una sola vez, para todos los usuarios.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709160" y="2852928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709160" y="2852928"/>
            <a:ext cx="3931920" cy="6400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910328" y="2999232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Nivel Avanzado, cumplido en producción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0328" y="3310128"/>
            <a:ext cx="3529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IA sobre grandes volúmenes (25 mil datasets, 6 fuentes), arquitectura híbrida LLM + verificación determinista, y despliegue funcional con actualización diaria: datosvivos.co.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02920" y="44622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honesta: el semáforo hereda la calidad de la frecuencia declarada — y eso también es un hallazgo: expone la calidad de la declaración.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/>
              <a:t>15</a:t>
            </a:r>
          </a:p>
        </p:txBody>
      </p:sp>
      <p:pic>
        <p:nvPicPr>
          <p:cNvPr id="23" name="Graphic 22" descr="Logotipo de la Agencia Nacional de Infraestructura">
            <a:extLst>
              <a:ext uri="{FF2B5EF4-FFF2-40B4-BE49-F238E27FC236}">
                <a16:creationId xmlns:a16="http://schemas.microsoft.com/office/drawing/2014/main" id="{22A4F4FF-D18D-CE34-B8E5-F1ED1242BD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8180" y="82296"/>
            <a:ext cx="685800" cy="927100"/>
          </a:xfrm>
          <a:prstGeom prst="rect">
            <a:avLst/>
          </a:prstGeom>
        </p:spPr>
      </p:pic>
      <p:pic>
        <p:nvPicPr>
          <p:cNvPr id="24" name="Graphic 23" descr="Imagen logo mintic">
            <a:extLst>
              <a:ext uri="{FF2B5EF4-FFF2-40B4-BE49-F238E27FC236}">
                <a16:creationId xmlns:a16="http://schemas.microsoft.com/office/drawing/2014/main" id="{192D71FA-C5DF-53F0-E474-F37A9AD7EE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7480" y="146867"/>
            <a:ext cx="436217" cy="79795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datosvivos.co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02920" y="18745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panorama de los datos abiertos de Colombia.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vivo, verificable, para decidir.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4206240" cy="2743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16936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" y="28803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Jhonatan Rico </a:t>
            </a: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jrico@ani.gov.co</a:t>
            </a: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310 419 6100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00984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392" y="32644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Navarro </a:t>
            </a: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inavarro@ani.gov.co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8503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392" y="3648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 Gutiérrez  </a:t>
            </a: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hgutierrez@ani.gov.co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02920" y="4160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GIT TIC — Agencia Nacional de Infraestructura (ANI)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5806440" y="1329889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Pruébalo ahora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806440" y="1695649"/>
            <a:ext cx="2377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4" name="Image 3" descr="qr_datosviv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1851097"/>
            <a:ext cx="2066544" cy="20665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06440" y="4164529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C6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datosvivos.co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pic>
        <p:nvPicPr>
          <p:cNvPr id="18" name="Graphic 17" descr="Logotipo de la Agencia Nacional de Infraestructura">
            <a:extLst>
              <a:ext uri="{FF2B5EF4-FFF2-40B4-BE49-F238E27FC236}">
                <a16:creationId xmlns:a16="http://schemas.microsoft.com/office/drawing/2014/main" id="{70761055-9FC3-0866-4D86-B1061E4CEC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8180" y="82296"/>
            <a:ext cx="685800" cy="927100"/>
          </a:xfrm>
          <a:prstGeom prst="rect">
            <a:avLst/>
          </a:prstGeom>
        </p:spPr>
      </p:pic>
      <p:pic>
        <p:nvPicPr>
          <p:cNvPr id="19" name="Graphic 18" descr="Imagen logo mintic">
            <a:extLst>
              <a:ext uri="{FF2B5EF4-FFF2-40B4-BE49-F238E27FC236}">
                <a16:creationId xmlns:a16="http://schemas.microsoft.com/office/drawing/2014/main" id="{B6D1CAE9-AA23-03F7-71BD-09ACCC12BC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7480" y="146867"/>
            <a:ext cx="436217" cy="7979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RESPALDO TÉCNICO · B1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Arquitectura: de las fuentes a las cuatro puertas</a:t>
            </a:r>
            <a:endParaRPr lang="en-US" sz="2700" dirty="0"/>
          </a:p>
        </p:txBody>
      </p:sp>
      <p:pic>
        <p:nvPicPr>
          <p:cNvPr id="4" name="Image 0" descr="arch_diagram2.png"/>
          <p:cNvPicPr>
            <a:picLocks noChangeAspect="1"/>
          </p:cNvPicPr>
          <p:nvPr/>
        </p:nvPicPr>
        <p:blipFill>
          <a:blip r:embed="rId3"/>
          <a:srcRect t="7082" r="30655" b="11432"/>
          <a:stretch>
            <a:fillRect/>
          </a:stretch>
        </p:blipFill>
        <p:spPr>
          <a:xfrm>
            <a:off x="1487887" y="1130079"/>
            <a:ext cx="6168225" cy="36240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RESPALDO TÉCNICO · B2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4343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 NL2SQL: generar no basta — hay que verificar</a:t>
            </a:r>
            <a:endParaRPr lang="en-US" sz="2400" dirty="0"/>
          </a:p>
        </p:txBody>
      </p:sp>
      <p:pic>
        <p:nvPicPr>
          <p:cNvPr id="4" name="Image 0" descr="pipeline_diagram.png"/>
          <p:cNvPicPr>
            <a:picLocks noChangeAspect="1"/>
          </p:cNvPicPr>
          <p:nvPr/>
        </p:nvPicPr>
        <p:blipFill>
          <a:blip r:embed="rId3"/>
          <a:srcRect l="1051" t="10551" r="15998" b="28115"/>
          <a:stretch>
            <a:fillRect/>
          </a:stretch>
        </p:blipFill>
        <p:spPr>
          <a:xfrm>
            <a:off x="445787" y="1457076"/>
            <a:ext cx="8252425" cy="27119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RESPALDO TÉCNICO · B3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de datos: una vista curada como fuente única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7271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cifra que se ve en DatosVivos — el panorama web, el tablero Power BI, los CSV públicos y el buscador — se calcula desde la misma vista de PostgreSQL. Al existir una sola fuente de verdad, es imposible que las cuatro puertas se desalineen entre sí.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39319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402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21579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datasets (42 columnas)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24712" y="244144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dataset del catálogo integrado. La carga usa upsert idempotente por identificador, y la auditoría confirmó cero duplicados de clave.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2057400"/>
            <a:ext cx="39319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24028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0952" y="21579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v_dataset_status_decisor (29 variables)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330952" y="244144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analítica: identidad del dataset, semáforo de frescura, métricas de uso, tipo de acceso, territorio DIVIPOLA y bandera de calidad.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02920" y="3291840"/>
            <a:ext cx="39319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47472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24712" y="33924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v_entity_summary_decisor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1124712" y="367588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agregado por entidad con su porcentaje de datasets al día: el indicador de cumplimiento que un gerente puede gestionar directamente.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709160" y="3291840"/>
            <a:ext cx="39319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474720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30952" y="33924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Bodega Parquet (10.280 datasets)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330952" y="367588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local de todos los tabulares viables. El buscador responde desde ella en milisegundos; si la fuente cambió, cae al dato vivo automáticamente.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RESPALDO TÉCNICO · B4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Calidad de datos: medida, no declarada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de DatosVivos no es una promesa: cada afirmación tiene una auditoría o un proceso automático detrás, con reportes versionados que el jurado puede replicar.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5603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0665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01168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Auditoría columna a columna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9224" y="242316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 18 columnas alcanzan 100 % de fidelidad contra la fuente Socrata, con reportes versionados en el repositorio.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91840" y="1920240"/>
            <a:ext cx="25603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44" y="206654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94760" y="201168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Clasificación continua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438144" y="242316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corrida del ETL, los reportes administrativos (Ley 1712) se separan automáticamente de los datos temáticos.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080760" y="1920240"/>
            <a:ext cx="25603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206654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83680" y="201168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Catalogación temática al 100 %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227064" y="242316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2.504 vacíos de categoría se cerraron con clasificación semántica, y el vocabulario se consolidó de 60+ etiquetas a 25 canónicas.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502920" y="3218688"/>
            <a:ext cx="25603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336499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3310128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Inferencia territorial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649224" y="372160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códigos DIVIPOLA se asignan con IA registrando el nivel de confianza; la cobertura alcanza cerca del 89 %.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3291840" y="3218688"/>
            <a:ext cx="25603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144" y="336499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94760" y="3310128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Guardas anti-basura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3438144" y="372160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metadata de plantilla sin diligenciar se detecta y limpia en todos los campos durante la ingesta, con guarda de recurrencia.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6080760" y="3218688"/>
            <a:ext cx="25603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7064" y="3364992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83680" y="3310128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Diccionario ciudadano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6227064" y="372160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 equivalencias curadas (“colegios” → “establecimientos educativos”) cierran la brecha entre cómo pregunta la gente y cómo titula el Estado.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6"/>
          <p:cNvSpPr/>
          <p:nvPr/>
        </p:nvSpPr>
        <p:spPr>
          <a:xfrm>
            <a:off x="4709160" y="2057400"/>
            <a:ext cx="39319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RESPALDO TÉCNICO · B5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Evaluación y trazabilidad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se prueba en dos frentes: uno técnico, con casos de referencia versionados, y uno ciudadano, con preguntas reales cuya respuesta esperada se escribió antes de correrlas. Los patrones que fallan se convierten en mejoras estructurales y el ciclo se repite.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39319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402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21579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Golden sets versionados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24712" y="244144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y chips de referencia en el repositorio, con corridas reproducibles. Últimos resultados: 18/18 y 38/38, cero falsos verificados.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330952" y="21579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Ciclo ciudadano de 50 preguntas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330952" y="244144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pregunta tiene respuesta esperada pre-registrada. Las fallas detectadas produjeron mejoras concretas: re-ranking semántico, respuesta de totales y honestidad de lejanía.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02920" y="3291840"/>
            <a:ext cx="39319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7472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24712" y="33924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 archivos de pruebas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1124712" y="367588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Cubren el verificador SoQL, el validador anti-alucinación, la reparación, la inferencia territorial, la cosecha, el MCP y las rutas de la API.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709160" y="3291840"/>
            <a:ext cx="39319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474720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30952" y="33924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Decisiones documentadas (ADRs)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330952" y="367588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registros públicos de decisión (017-024) trazan cada giro técnico, del principio “la IA razona, el motor verifica” al pivote panorama-decisor.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5D094D1C-ECA2-FE52-7421-7D627AB202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240280"/>
            <a:ext cx="310896" cy="310896"/>
          </a:xfrm>
          <a:prstGeom prst="rect">
            <a:avLst/>
          </a:prstGeom>
        </p:spPr>
      </p:pic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5FC96C83-32CC-8A3D-5993-698800C1E8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291467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RESPALDO TÉCNICO · B6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Soberanía, seguridad y cumplimiento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corre en infraestructura del Estado y solo toca datos que ya son públicos. El diseño protege a las personas y hace el sistema auditable de punta a punta.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5603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0665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01168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Infraestructura del Estado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9224" y="242316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corre en una VM pública bajo VPN estatal; los datos consultados son públicos por definición.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91840" y="1920240"/>
            <a:ext cx="25603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44" y="206654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94760" y="201168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datos personales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438144" y="242316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registro y cero rastreadores. La telemetría es agregada y anónima: mide qué se consulta, nunca quién.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080760" y="1920240"/>
            <a:ext cx="25603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206654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83680" y="201168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Solo lectura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227064" y="242316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no puede escribir en ninguna fuente; la verificación de solo-lectura es una de las tres capas del pipeline.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502920" y="3218688"/>
            <a:ext cx="25603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336499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3310128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Repositorio abierto y auditable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649224" y="372160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documentación, pruebas y evaluación son públicos, replicables con Docker, con guía de validación para el jurado.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3291840" y="3218688"/>
            <a:ext cx="25603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144" y="336499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94760" y="3310128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Accesibilidad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3438144" y="372160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1618 de 2013 y WCAG 2.1 AA: entrada por voz, narración de resultados, alto contraste y escala tipográfica.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6080760" y="3218688"/>
            <a:ext cx="25603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algn="bl" rotWithShape="0">
              <a:srgbClr val="1A2530">
                <a:alpha val="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7064" y="3364992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83680" y="3310128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Registro oficial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6227064" y="372160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n.º 1074 registrado en herramientas.datos.gov.co (2026-07-13) como aporte formal al ecosistema.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502920" y="48326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DatosVivos · datosvivos.co</a:t>
            </a: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Datos al Ecosistema 2026 · Equipo 93 · Reto 7 · Nivel Avanzado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827532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3684</Words>
  <Application>Microsoft Office PowerPoint</Application>
  <PresentationFormat>Presentación en pantalla (16:9)</PresentationFormat>
  <Paragraphs>387</Paragraphs>
  <Slides>22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Aptos</vt:lpstr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DatosVivos — Pitch Datos al Ecosistema 2026</dc:title>
  <dc:subject>PptxGenJS Presentation</dc:subject>
  <dc:creator>Equipo GIT TIC - ANI</dc:creator>
  <cp:lastModifiedBy>Ileana Andrea Navarro Castrillon</cp:lastModifiedBy>
  <cp:revision>18</cp:revision>
  <cp:lastPrinted>2026-07-23T15:01:53Z</cp:lastPrinted>
  <dcterms:created xsi:type="dcterms:W3CDTF">2026-07-14T01:17:44Z</dcterms:created>
  <dcterms:modified xsi:type="dcterms:W3CDTF">2026-07-26T17:58:38Z</dcterms:modified>
</cp:coreProperties>
</file>