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9601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</a:t>
            </a:r>
            <a:pPr indent="0" marL="0">
              <a:buNone/>
            </a:pPr>
            <a:r>
              <a:rPr lang="en-US" sz="56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|</a:t>
            </a:r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Vivos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12648" y="19202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2648" y="2331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 del Estado, en tus palabras.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2648" y="2971800"/>
            <a:ext cx="502920" cy="8229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Shape 5"/>
          <p:cNvSpPr/>
          <p:nvPr/>
        </p:nvSpPr>
        <p:spPr>
          <a:xfrm>
            <a:off x="1115568" y="2971800"/>
            <a:ext cx="1051560" cy="82296"/>
          </a:xfrm>
          <a:prstGeom prst="rect">
            <a:avLst/>
          </a:prstGeom>
          <a:solidFill>
            <a:srgbClr val="F5B041"/>
          </a:solidFill>
          <a:ln/>
        </p:spPr>
      </p:sp>
      <p:sp>
        <p:nvSpPr>
          <p:cNvPr id="8" name="Shape 6"/>
          <p:cNvSpPr/>
          <p:nvPr/>
        </p:nvSpPr>
        <p:spPr>
          <a:xfrm>
            <a:off x="2167128" y="2971800"/>
            <a:ext cx="2651760" cy="822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·  Andrea Navarro  ·  Hernán Gutiérrez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36027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4041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2026: IA para Colombia — MinTIC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" y="4297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93 · Reto de Innovación y Tecnología (Reto 7, id 102) · Nivel Avanzado</a:t>
            </a:r>
            <a:endParaRPr lang="en-US" sz="1150" dirty="0"/>
          </a:p>
        </p:txBody>
      </p:sp>
      <p:pic>
        <p:nvPicPr>
          <p:cNvPr id="13" name="Image 0" descr="qr_datosviv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234440"/>
            <a:ext cx="1234440" cy="12344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315200" y="1188720"/>
            <a:ext cx="1325880" cy="1325880"/>
          </a:xfrm>
          <a:prstGeom prst="rect">
            <a:avLst/>
          </a:prstGeom>
          <a:ln w="12700">
            <a:solidFill>
              <a:srgbClr val="1ABC9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78040" y="257860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Nadie tiene el panorama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1a253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721" y="1691640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entidad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922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cuántos datasets tiene publicados ni cuántos están al día.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9461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06450000" dist="241935000" dir="324000000000">
              <a:srgbClr val="1a2530">
                <a:alpha val="100000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11" y="169164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8605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sector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274091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vista consolidada de sus entidades adscritas: cero control.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8630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241915000000" dist="3072574500000" dir="19440000000000000">
              <a:srgbClr val="1a2530">
                <a:alpha val="10000000000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101" y="169164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7774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MinTIC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83260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viven separados: no existe el agregado nacional.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7799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0072320500000000" dist="39021696150000000" dir="1.1664e+21">
              <a:srgbClr val="1a2530">
                <a:alpha val="1000000000000000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1791" y="169164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943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ciudadano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92429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saber de APIs y SQL para obtener una simple cifra.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502920" y="4069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dato público existe — pero nadie puede verlo completo ni usarlo sin conocimientos técnicos.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73152" cy="173736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1600200"/>
            <a:ext cx="7040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“Si no conocemos, no podemos medir.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si no medimos, no podemos mejorar.”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" y="3063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bien gobernado es infraestructura — tan estratégica como las vías.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Cuatro puertas, una por audiencia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65191847035e+21" dist="495575541105000000000" dir="6.9984e+25">
              <a:srgbClr val="1a2530">
                <a:alpha val="1e+24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1ABC9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1863090" cy="201168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8132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6984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3093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DECISORES Y PRENSA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3093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nacional en vivo. Para decidir en segundos.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461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0979364573445003e+25" dist="6.2938093720335e+24" dir="4.19904e+30">
              <a:srgbClr val="1a2530">
                <a:alpha val="1e+29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9461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F39C1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94610" y="1783080"/>
            <a:ext cx="1863090" cy="201168"/>
          </a:xfrm>
          <a:prstGeom prst="rect">
            <a:avLst/>
          </a:prstGeom>
          <a:solidFill>
            <a:srgbClr val="F39C12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202" y="1481328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16153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16153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/tablero · Power BI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272262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GERENTES Y ENTIDADES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72262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sector, entidad y territorio. Para gestionar.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8630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6643793008275154e+29" dist="7.993137902482545e+28" dir="2.519424e+35">
              <a:srgbClr val="1a2530">
                <a:alpha val="1e+34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8630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0B3C5D"/>
          </a:solidFill>
          <a:ln/>
        </p:spPr>
      </p:sp>
      <p:sp>
        <p:nvSpPr>
          <p:cNvPr id="22" name="Shape 18"/>
          <p:cNvSpPr/>
          <p:nvPr/>
        </p:nvSpPr>
        <p:spPr>
          <a:xfrm>
            <a:off x="4686300" y="1783080"/>
            <a:ext cx="1863090" cy="201168"/>
          </a:xfrm>
          <a:prstGeom prst="rect">
            <a:avLst/>
          </a:prstGeom>
          <a:solidFill>
            <a:srgbClr val="0B3C5D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892" y="1481328"/>
            <a:ext cx="347472" cy="34747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5322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525322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/buscar · lenguaje natural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81431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81431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tus palabras; cifra verificada con fuente.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77799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3837617120509443e+33" dist="1.0151285136152831e+33" dir="1.5116544e+40">
              <a:srgbClr val="1a2530">
                <a:alpha val="1e+39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77799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7D3C98"/>
          </a:solidFill>
          <a:ln/>
        </p:spPr>
      </p:sp>
      <p:sp>
        <p:nvSpPr>
          <p:cNvPr id="30" name="Shape 25"/>
          <p:cNvSpPr/>
          <p:nvPr/>
        </p:nvSpPr>
        <p:spPr>
          <a:xfrm>
            <a:off x="6777990" y="1783080"/>
            <a:ext cx="1863090" cy="201168"/>
          </a:xfrm>
          <a:prstGeom prst="rect">
            <a:avLst/>
          </a:prstGeom>
          <a:solidFill>
            <a:srgbClr val="7D3C98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2582" y="1481328"/>
            <a:ext cx="347472" cy="34747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4491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4491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· agentes de IA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690600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DESARROLLADORES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690600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como herramientas para Claude, OpenAI y más.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accesibilidad en toda la plataforma: </a:t>
            </a:r>
            <a:pPr algn="ctr" indent="0" marL="0">
              <a:buNone/>
            </a:pPr>
            <a:r>
              <a:rPr lang="en-US" sz="12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voz, narración y alto contraste (Ley 1618 de 2013).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1/3 · INICIO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panorama en vivo — se actualiza solo, cada día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297377374304699e+37" dist="1.2892132122914095e+37" dir="9.069926400000001e+44">
              <a:srgbClr val="1a2530">
                <a:alpha val="9.999999999999999e+43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25.234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el catálogo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461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457669265366968e+41" dist="1.6373007796100902e+41" dir="5.44195584e+49">
              <a:srgbClr val="1a2530">
                <a:alpha val="1e+49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9461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0" name="Text 8"/>
          <p:cNvSpPr/>
          <p:nvPr/>
        </p:nvSpPr>
        <p:spPr>
          <a:xfrm>
            <a:off x="259461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1.423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4033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publicadoras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630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93123996701605e+45" dist="2.0793719901048145e+45" dir="3.2651735040000005e+54">
              <a:srgbClr val="1a2530">
                <a:alpha val="9.999999999999999e+53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8630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4" name="Text 12"/>
          <p:cNvSpPr/>
          <p:nvPr/>
        </p:nvSpPr>
        <p:spPr>
          <a:xfrm>
            <a:off x="468630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3202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actualizados al día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799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802674758110384e+49" dist="2.640802427433114e+49" dir="1.9591041024000004e+59">
              <a:srgbClr val="1a2530">
                <a:alpha val="9.999999999999999e+58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7799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677799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59 %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2371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consultables como tabla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1179396942800187e+54" dist="3.353819082840055e+53" dir="1.1754624614400003e+64">
              <a:srgbClr val="1a2530">
                <a:alpha val="9.999999999999999e+63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HA CRECIDO EL CATÁLOGO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4088" y="28529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datasets</a:t>
            </a:r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hasta 2015  →  </a:t>
            </a:r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25.234 hoy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" y="3154680"/>
            <a:ext cx="3529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se acelera desde 2023 — la federación de portales territoriales duplicó el catálogo visible en dos años.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19783411735624e+58" dist="4.2593502352068695e+57" dir="7.052774768640002e+68">
              <a:srgbClr val="1a2530">
                <a:alpha val="9.999999999999999e+68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1032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SECTORES Y TERRITORIO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0328" y="2852928"/>
            <a:ext cx="3529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(2.618) y Función Pública (2.169)</a:t>
            </a:r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lideran por sector. </a:t>
            </a:r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 (5.110), Cundinamarca (1.372) y Antioquia (1.289)</a:t>
            </a:r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el territorio.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0416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 al día    </a:t>
            </a:r>
            <a:pPr indent="0" marL="0">
              <a:buNone/>
            </a:pPr>
            <a:r>
              <a:rPr lang="en-US" sz="1100" dirty="0">
                <a:solidFill>
                  <a:srgbClr val="F5B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 atrasado    </a:t>
            </a:r>
            <a:pPr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con oportunidad de mejora</a:t>
            </a:r>
            <a:pPr indent="0" marL="0">
              <a:buNone/>
            </a:pP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DatosVivos hizo visible este indicador por primera vez.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3708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vivo, verificables: datosvivos.co/api/v1/stats/panorama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2/3 · DETALLE ENTIDAD (POWER BI)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control de gestión, en dos clics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8031249329042424e+62" dist="5.409374798712724e+61" dir="4.2316648611840007e+73">
              <a:srgbClr val="1a2530">
                <a:alpha val="9.999999999999998e+73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615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Semáforo por entidad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1615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dentro de la frecuencia declarada, amarillo hasta 2 veces, rojo más de 2 veces. El porcentaje de cumplimiento queda listo para gestión.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70916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289968664788388e+66" dist="6.86990599436516e+65" dir="2.5389989167104004e+78">
              <a:srgbClr val="1a2530">
                <a:alpha val="9.999999999999998e+78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57276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real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2239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Descargas, vistas e interés reciente: muestra qué datasets le importan de verdad a la ciudadanía.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908260204281253e+70" dist="8.724780612843754e+69" dir="1.5233993500262402e+83">
              <a:srgbClr val="1a2530">
                <a:alpha val="9.999999999999998e+83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99008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615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Territorio DIVIPOLA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1615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con drill de departamento a municipio, con cerca del 89 % de cobertura territorial inferida con IA.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70916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693490459437191e+74" dist="1.1080471378311567e+74" dir="9.14039610015744e+87">
              <a:srgbClr val="1a2530">
                <a:alpha val="9.999999999999999e+88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9900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Filtros del decisor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2239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Sector, entidad, acceso, calidad (Ley 1712) y territorio: cada gerente arma su propia vista.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está detrás del tablero: la depuración, consolidación y clasificación de calidad se definieron con IA.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3/3 · BUSCAR (LENGUAJE NATURAL)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“¿Cuántos colegios públicos hay en Boyacá?” — qué pasa por dentro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5" name="Shape 3"/>
          <p:cNvSpPr/>
          <p:nvPr/>
        </p:nvSpPr>
        <p:spPr>
          <a:xfrm>
            <a:off x="630936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clasificador detecta la intención (conteo) y el diccionario ciudadano traduce: “colegios” → “establecimientos educativos”. ~130 equivalencias curadas.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3282696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58184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multilingual-e5 sobre ChromaDB recuperan el dataset pertinente entre 25 mil; el filtro territorial recorta a Boyacá vía DIVIPOLA.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062472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5" name="Shape 13"/>
          <p:cNvSpPr/>
          <p:nvPr/>
        </p:nvSpPr>
        <p:spPr>
          <a:xfrm>
            <a:off x="6190488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6" name="Text 14"/>
          <p:cNvSpPr/>
          <p:nvPr/>
        </p:nvSpPr>
        <p:spPr>
          <a:xfrm>
            <a:off x="6190488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08776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(Claude Haiku) escribe la consulta SoQL viendo SOLO las columnas curadas reales del dataset elegido — no puede inventar campos.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determinista, no IA: ¿las columnas existen? ¿las funciones son válidas? ¿es solo-lectura? Si falla, repara en ciclo acotado o rehúsa.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3282696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5" name="Shape 23"/>
          <p:cNvSpPr/>
          <p:nvPr/>
        </p:nvSpPr>
        <p:spPr>
          <a:xfrm>
            <a:off x="3410712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58184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29000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sobre la bodega Parquet local (milisegundos) o sobre el dato vivo si la fuente cambió. Cada cifra se contrasta contra las filas reales.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062472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30" name="Shape 28"/>
          <p:cNvSpPr/>
          <p:nvPr/>
        </p:nvSpPr>
        <p:spPr>
          <a:xfrm>
            <a:off x="6190488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31" name="Text 29"/>
          <p:cNvSpPr/>
          <p:nvPr/>
        </p:nvSpPr>
        <p:spPr>
          <a:xfrm>
            <a:off x="6190488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08776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anti-alucinación: toda oración con un número que no salió del cálculo se censura. Respuesta con cifra + dataset + enlace a la fuente.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cifras inventadas      </a:t>
            </a:r>
            <a:pPr algn="ctr" indent="0" marL="0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pPr algn="ctr" indent="0" marL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fuente citada      </a:t>
            </a:r>
            <a:pPr algn="ctr" indent="0" marL="0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 s</a:t>
            </a:r>
            <a:pPr algn="ctr" indent="0" marL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interpretación NL      </a:t>
            </a:r>
            <a:pPr algn="ctr" indent="0" marL="0">
              <a:buNone/>
            </a:pPr>
            <a:r>
              <a:rPr lang="en-US" sz="1150" i="1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“Preferimos no responder a responder mal.”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EMERGENTES ·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razona, el motor verifica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0B3C5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98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 generativa + arquitectura híbrida — pertinente, aplicable e interpretable. Nunca superficial.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690732883485232e+78" dist="1.407219865045569e+78" dir="5.484237660094465e+92">
              <a:srgbClr val="1a2530">
                <a:alpha val="9.999999999999998e+93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 (IA)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55448" cy="1554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 reportes administrativos separados (Ley 1712)</a:t>
            </a:r>
            <a:endParaRPr lang="en-US" sz="88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de columnas: LLM + heurísticas</a:t>
            </a:r>
            <a:endParaRPr lang="en-US" sz="88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36976"/>
            <a:ext cx="155448" cy="1554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cerrados (100 %)</a:t>
            </a:r>
            <a:endParaRPr lang="en-US" sz="88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621024"/>
            <a:ext cx="155448" cy="1554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Vocabulario: de 60+ etiquetas a 25 canónicas</a:t>
            </a:r>
            <a:endParaRPr lang="en-US" sz="88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005072"/>
            <a:ext cx="155448" cy="1554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 anti-basura ({{...}}) en toda la ingesta</a:t>
            </a:r>
            <a:endParaRPr lang="en-US" sz="880" dirty="0"/>
          </a:p>
        </p:txBody>
      </p:sp>
      <p:sp>
        <p:nvSpPr>
          <p:cNvPr id="18" name="Shape 11"/>
          <p:cNvSpPr/>
          <p:nvPr/>
        </p:nvSpPr>
        <p:spPr>
          <a:xfrm>
            <a:off x="329184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957230762026245e+82" dist="1.7871692286078725e+82" dir="3.2905425960566786e+97">
              <a:srgbClr val="1a2530">
                <a:alpha val="9.999999999999998e+98"/>
              </a:srgbClr>
            </a:outerShdw>
          </a:effectLst>
        </p:spPr>
      </p:sp>
      <p:sp>
        <p:nvSpPr>
          <p:cNvPr id="19" name="Text 12"/>
          <p:cNvSpPr/>
          <p:nvPr/>
        </p:nvSpPr>
        <p:spPr>
          <a:xfrm>
            <a:off x="34747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COMPRENSIÓN (IA)</a:t>
            </a:r>
            <a:endParaRPr lang="en-US" sz="11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2468880"/>
            <a:ext cx="155448" cy="1554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0332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territorial DIVIPOLA (~89 %)</a:t>
            </a:r>
            <a:endParaRPr lang="en-US" sz="88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2852928"/>
            <a:ext cx="155448" cy="15544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70332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 ciudadano: ~130 equivalencias</a:t>
            </a:r>
            <a:endParaRPr lang="en-US" sz="88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20" y="3236976"/>
            <a:ext cx="155448" cy="1554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70332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de intención (6 tipos de respuesta)</a:t>
            </a:r>
            <a:endParaRPr lang="en-US" sz="88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74720" y="3621024"/>
            <a:ext cx="155448" cy="15544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370332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e5 + ChromaDB en ambos caminos</a:t>
            </a:r>
            <a:endParaRPr lang="en-US" sz="88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4720" y="4005072"/>
            <a:ext cx="155448" cy="15544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370332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semántico del camino estructurado</a:t>
            </a:r>
            <a:endParaRPr lang="en-US" sz="880" dirty="0"/>
          </a:p>
        </p:txBody>
      </p:sp>
      <p:sp>
        <p:nvSpPr>
          <p:cNvPr id="30" name="Shape 18"/>
          <p:cNvSpPr/>
          <p:nvPr/>
        </p:nvSpPr>
        <p:spPr>
          <a:xfrm>
            <a:off x="608076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565683067773332e+86" dist="2.269704920331998e+86" dir="1.9743255576340073e+102">
              <a:srgbClr val="1a2530">
                <a:alpha val="9.999999999999998e+103"/>
              </a:srgbClr>
            </a:outerShdw>
          </a:effectLst>
        </p:spPr>
      </p:sp>
      <p:sp>
        <p:nvSpPr>
          <p:cNvPr id="31" name="Text 19"/>
          <p:cNvSpPr/>
          <p:nvPr/>
        </p:nvSpPr>
        <p:spPr>
          <a:xfrm>
            <a:off x="62636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GENERACIÓN VERIFICADA</a:t>
            </a:r>
            <a:endParaRPr lang="en-US" sz="1100" dirty="0"/>
          </a:p>
        </p:txBody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3640" y="2468880"/>
            <a:ext cx="155448" cy="155448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49224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con verificación de 3 capas (código)</a:t>
            </a:r>
            <a:endParaRPr lang="en-US" sz="880" dirty="0"/>
          </a:p>
        </p:txBody>
      </p:sp>
      <p:pic>
        <p:nvPicPr>
          <p:cNvPr id="3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640" y="2852928"/>
            <a:ext cx="155448" cy="155448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649224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 acotada; refusal si no verifica</a:t>
            </a:r>
            <a:endParaRPr lang="en-US" sz="880" dirty="0"/>
          </a:p>
        </p:txBody>
      </p:sp>
      <p:pic>
        <p:nvPicPr>
          <p:cNvPr id="3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3640" y="3236976"/>
            <a:ext cx="155448" cy="15544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49224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 (censura números ajenos)</a:t>
            </a:r>
            <a:endParaRPr lang="en-US" sz="88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3640" y="3621024"/>
            <a:ext cx="155448" cy="15544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649224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Parquet: decide local vs dato vivo</a:t>
            </a:r>
            <a:endParaRPr lang="en-US" sz="880" dirty="0"/>
          </a:p>
        </p:txBody>
      </p:sp>
      <p:pic>
        <p:nvPicPr>
          <p:cNvPr id="4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3640" y="4005072"/>
            <a:ext cx="155448" cy="155448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649224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para cualquier agente de IA</a:t>
            </a:r>
            <a:endParaRPr lang="en-US" sz="880" dirty="0"/>
          </a:p>
        </p:txBody>
      </p:sp>
      <p:sp>
        <p:nvSpPr>
          <p:cNvPr id="42" name="Text 2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RIGOR TÉCNICO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CRISP-ML(Q): qué se hizo en cada fase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608417496072131e+90" dist="2.8825252488216374e+90" dir="1.1845953345804043e+107">
              <a:srgbClr val="1a2530">
                <a:alpha val="9.999999999999998e+108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 del decisor sin panorama; 6 portales y 3 protocolos (Socrata, CKAN, DCAT) mapeados como fuentes.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2202690220011606e+95" dist="3.6608070660034796e+94" dir="7.107572007482426e+111">
              <a:srgbClr val="1a2530">
                <a:alpha val="9.999999999999997e+113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3814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2219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diario con upsert idempotente (0 duplicados), clasificación Ley 1712, curación de columnas e inferencia DIVIPOLA.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549741657941474e+99" dist="4.649224973824419e+98" dir="4.2645432044894554e+116">
              <a:srgbClr val="1a2530">
                <a:alpha val="9.999999999999998e+118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2706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6" name="Text 14"/>
          <p:cNvSpPr/>
          <p:nvPr/>
        </p:nvSpPr>
        <p:spPr>
          <a:xfrm>
            <a:off x="62270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1111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535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generativo + verificación de 3 capas; embeddings e5 + ChromaDB; clasificador de intención con 6 tipos de respuesta.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9681719055856718e+103" dist="5.904515716757012e+102" dir="2.5587259226936733e+121">
              <a:srgbClr val="1a2530">
                <a:alpha val="9.999999999999997e+123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sets versionados (18/18 y 38/38, 0 falsos) + ciclo ciudadano: 50 preguntas pre-registradas; 39/50 mejoraron de dataset.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4995783200938032e+107" dist="7.498734960281406e+106" dir="1.535235553616204e+126">
              <a:srgbClr val="1a2530">
                <a:alpha val="9.999999999999997e+128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3814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6" name="Text 24"/>
          <p:cNvSpPr/>
          <p:nvPr/>
        </p:nvSpPr>
        <p:spPr>
          <a:xfrm>
            <a:off x="343814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2219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Desplegar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en datosvivos.co con Docker Compose reproducible; imagen horneada; guía de validación para el jurado.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17446446651913e+111" dist="9.523393399557385e+110" dir="9.211413321697224e+130">
              <a:srgbClr val="1a2530">
                <a:alpha val="9.999999999999997e+133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2706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31" name="Text 29"/>
          <p:cNvSpPr/>
          <p:nvPr/>
        </p:nvSpPr>
        <p:spPr>
          <a:xfrm>
            <a:off x="622706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1111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Monitorear (Q)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4535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deriva del catálogo vivo: reindex nocturno, re-clasificación continua y telemetría anónima de lo consultado.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adaptación central: en vez de entrenar y congelar un modelo, cada consulta vive su propio ciclo — generación (LLM), verificación (código), ejecución.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DatosVivos demuestra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0315698724792955e+115" dist="1.209470961743788e+115" dir="5.526847993018334e+135">
              <a:srgbClr val="1a2530">
                <a:alpha val="9.999999999999998e+138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brecha no es de cantidad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25 mil datasets, el problema del dato abierto colombiano es de gobernanza y acceso: los datos existen, pero no se mantienen frescos y consultarlos exigía capacidades técnicas.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120093738048705e+119" dist="1.5360281214146108e+119" dir="3.3161087958110005e+140">
              <a:srgbClr val="1a2530">
                <a:alpha val="9.999999999999999e+143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Medir cambia la conversación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comparar cada dataset contra la frecuencia que su propia entidad declaró, el incumplimiento deja de ser percepción y se vuelve un indicador gestionable por entidad y sector.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502519047321855e+123" dist="1.9507557141965558e+123" dir="1.9896652774866004e+145">
              <a:srgbClr val="1a2530">
                <a:alpha val="9.999999999999998e+148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heterogeneidad se absorbe una vez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3 protocolos y metadata desigual con IA (curación, clasificación, inferencia) paga el costo de la federación una sola vez, para todos los usuarios.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70916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258199190098756e+127" dist="2.4774597570296257e+127" dir="1.1937991664919603e+150">
              <a:srgbClr val="1a2530">
                <a:alpha val="9.999999999999999e+153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Nivel Avanzado, cumplido en producción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IA sobre grandes volúmenes (25 mil datasets, 6 fuentes), arquitectura híbrida LLM + verificación determinista, y despliegue funcional con actualización diaria: datosvivos.co.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honesta: el semáforo hereda la calidad de la frecuencia declarada — y eso también es un hallazgo: expone la calidad de la declaración.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 Y ESCALABILIDAD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mismo dato, cuatro decisiones distintas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 la herramienta: es que cada actor del ecosistema pasa de no poder ver a poder actuar.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0487912971425421e+132" dist="3.1463738914276248e+131" dir="7.162794998951762e+154">
              <a:srgbClr val="1a2530">
                <a:alpha val="1e+159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Entidad publicadora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sabía cuántos datasets tenía ni cuántos al día.  </a:t>
            </a:r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 rezago en segundos y sabe exactamente qué actualizar.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3319649473710286e+136" dist="3.9958948421130834e+135" dir="4.297676999371057e+159">
              <a:srgbClr val="1a2530">
                <a:alpha val="9.999999999999999e+163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1032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 de sector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1032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control sobre sus N entidades adscritas.  </a:t>
            </a:r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consolidado: compara, prioriza y gestiona el cumplimiento.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6915954831612062e+140" dist="5.074786449483616e+139" dir="2.5786061996226343e+164">
              <a:srgbClr val="1a2530">
                <a:alpha val="1e+16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MinTIC / política pública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vivían separados, sin agregado.  </a:t>
            </a:r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nacional medible para las Hojas de Ruta de Datos Abiertos.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148326263614732e+144" dist="6.444978790844192e+143" dir="1.5471637197735807e+169">
              <a:srgbClr val="1a2530">
                <a:alpha val="9.999999999999998e+173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 y prensa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1032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un dato exigía saber de APIs y SQL.  </a:t>
            </a:r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sus palabras y recibe cifra verificada con fuente.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6110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Escala: </a:t>
            </a:r>
            <a:pPr indent="0" marL="0">
              <a:buNone/>
            </a:pPr>
            <a:r>
              <a:rPr lang="en-US" sz="110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portal es configuración, no desarrollo — el patrón sirve a cualquier país con Socrata, CKAN o DCAT, y el MCP permite construir encima.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ya corre — julio 2026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7283743547907096e+148" dist="8.185123064372124e+147" dir="9.282982318641485e+173">
              <a:srgbClr val="1a2530">
                <a:alpha val="9.999999999999998e+178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~1.5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60604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la pregunta el motor de lenguaje (API de Claude); antes tomaba 31-45 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465035430584201e+152" dist="1.0395106291752597e+152" dir="5.569789391184891e+178">
              <a:srgbClr val="1a2530">
                <a:alpha val="9.999999999999998e+183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10.280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1228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bodega Parquet local — el buscador responde en milisegundos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400594996841935e+156" dist="1.32017849905258e+156" dir="3.3418736347109347e+183">
              <a:srgbClr val="1a2530">
                <a:alpha val="9.999999999999998e+188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0604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catalogación temática: 2.504 vacíos cerrados con clasificación semántica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588755645989258e+160" dist="1.6766266937967764e+160" dir="2.0051241808265608e+188">
              <a:srgbClr val="1a2530">
                <a:alpha val="9.999999999999998e+193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81228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ciudadanas evaluadas por ciclos, convertidas en mejoras estructurales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22452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EAF2F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sigue: </a:t>
            </a:r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año y municipio dentro del dataset · respuestas compuestas (KPI + tendencia + per cápita).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02920" y="18745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vivo, verificable, para decidir.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4206240" cy="27432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16936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 </a:t>
            </a:r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jrico@ani.gov.co   · 310 419 6100</a:t>
            </a:r>
            <a:endParaRPr lang="en-US" sz="12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3009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" y="32644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Navarro   </a:t>
            </a:r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inavarro@ani.gov.co</a:t>
            </a:r>
            <a:endParaRPr lang="en-US" sz="12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8503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" y="36484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Hernán Gutiérrez   </a:t>
            </a:r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hgutierrez@ani.gov.co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50292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172200" y="1051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Pruébalo ahora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172200" y="141732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pic>
        <p:nvPicPr>
          <p:cNvPr id="14" name="Image 3" descr="qr_datosviv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572768"/>
            <a:ext cx="2066544" cy="20665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7220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EC6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Arquitectura: de las fuentes a las cuatro puertas</a:t>
            </a:r>
            <a:endParaRPr lang="en-US" sz="2700" dirty="0"/>
          </a:p>
        </p:txBody>
      </p:sp>
      <p:pic>
        <p:nvPicPr>
          <p:cNvPr id="4" name="Image 0" descr="arch_diagram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81381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 NL2SQL: generar no basta — hay que verificar</a:t>
            </a:r>
            <a:endParaRPr lang="en-US" sz="2700" dirty="0"/>
          </a:p>
        </p:txBody>
      </p:sp>
      <p:pic>
        <p:nvPicPr>
          <p:cNvPr id="4" name="Image 0" descr="pipelin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8138160" cy="3616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de datos: una vista curada como fuente única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que se ve en DatosVivos — el panorama web, el tablero Power BI, los CSV públicos y el buscador — se calcula desde la misma vista de PostgreSQL. Al existir una sola fuente de verdad, es imposible que las cuatro puertas se desalineen entre sí.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097719670406357e+164" dist="2.1293159011219062e+164" dir="1.2030745084959364e+193">
              <a:srgbClr val="1a2530">
                <a:alpha val="9.999999999999999e+198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(42 columnas)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dataset del catálogo integrado. La carga usa upsert idempotente por identificador, y la auditoría confirmó cero duplicados de clave.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014103981416073e+168" dist="2.704231194424821e+168" dir="7.218447050975619e+197">
              <a:srgbClr val="1a2530">
                <a:alpha val="9.999999999999998e+203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(29 variables)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analítica: identidad del dataset, semáforo de frescura, métricas de uso, tipo de acceso, territorio DIVIPOLA y bandera de calidad.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1447912056398413e+173" dist="3.434373616919523e+172" dir="4.3310682305853715e+202">
              <a:srgbClr val="1a2530">
                <a:alpha val="9.999999999999999e+208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agregado por entidad con su porcentaje de datasets al día: el indicador de cumplimiento que un gerente puede gestionar directamente.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538848311625985e+177" dist="4.3616544934877943e+176" dir="2.598640938351223e+207">
              <a:srgbClr val="1a2530">
                <a:alpha val="9.999999999999998e+213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Bodega Parquet (10.280 datasets)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local de todos los tabulares viables. El buscador responde desde ella en milisegundos; si la fuente cambió, cae al dato vivo automáticamente.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datos: medida, no declarada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DatosVivos no es una promesa: cada afirmación tiene una auditoría o un proceso automático detrás, con reportes versionados que el jurado puede replicar.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8464337355765e+181" dist="5.539301206729498e+180" dir="1.5591845630107338e+212">
              <a:srgbClr val="1a2530">
                <a:alpha val="9.999999999999998e+218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columna a columna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18 columnas alcanzan 100 % de fidelidad contra la fuente Socrata, con reportes versionados en el repositorio.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344970844182155e+185" dist="7.034912532546463e+184" dir="9.355107378064403e+216">
              <a:srgbClr val="1a2530">
                <a:alpha val="9.999999999999998e+223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continua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corrida del ETL, los reportes administrativos (Ley 1712) se separan automáticamente de los datos temáticos.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978112972111337e+189" dist="8.934338916334009e+188" dir="5.613064426838642e+221">
              <a:srgbClr val="1a2530">
                <a:alpha val="9.999999999999997e+228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Catalogación temática al 100 %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se cerraron con clasificación semántica, y el vocabulario se consolidó de 60+ etiquetas a 25 canónicas.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782203474581398e+193" dist="1.1346610423744191e+193" dir="3.367838656103185e+226">
              <a:srgbClr val="1a2530">
                <a:alpha val="9.999999999999997e+233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Inferencia territorial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códigos DIVIPOLA se asignan con IA registrando el nivel de confianza; la cobertura alcanza cerca del 89 %.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803398412718375e+197" dist="1.4410195238155123e+197" dir="2.020703193661911e+231">
              <a:srgbClr val="1a2530">
                <a:alpha val="9.999999999999996e+238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Guardas anti-basura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metadata de plantilla sin diligenciar se detecta y limpia en todos los campos durante la ingesta, con guarda de recurrencia.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100315984152336e+201" dist="1.8300947952457007e+201" dir="1.2124219161971466e+236">
              <a:srgbClr val="1a2530">
                <a:alpha val="9.999999999999996e+243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Diccionario ciudadano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equivalencias curadas (“colegios” → “establecimientos educativos”) cierran la brecha entre cómo pregunta la gente y cómo titula el Estado.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Evaluación y trazabilidad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se prueba en dos frentes: uno técnico, con casos de referencia versionados, y uno ciudadano, con preguntas reales cuya respuesta esperada se escribió antes de correrlas. Los patrones que fallan se convierten en mejoras estructurales y el ciclo se repite.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747401299873467e+205" dist="2.3242203899620397e+205" dir="7.27453149718288e+240">
              <a:srgbClr val="1a2530">
                <a:alpha val="9.999999999999995e+248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Golden sets versionados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chips de referencia en el repositorio, con corridas reproducibles. Últimos resultados: 18/18 y 38/38, cero falsos verificados.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839199650839303e+209" dist="2.9517598952517903e+209" dir="4.364718898309728e+245">
              <a:srgbClr val="1a2530">
                <a:alpha val="9.999999999999995e+253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Ciclo ciudadano de 50 preguntas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pregunta tiene respuesta esperada pre-registrada. Las fallas detectadas produjeron mejoras concretas: re-ranking semántico, respuesta de totales y honestidad de lejanía.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2495783556565913e+214" dist="3.7487350669697734e+213" dir="2.6188313389858368e+250">
              <a:srgbClr val="1a2530">
                <a:alpha val="9.999999999999996e+258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36 archivos de pruebas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Cubren el verificador SoQL, el validador anti-alucinación, la reparación, la inferencia territorial, la cosecha, el MCP y las rutas de la API.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586964511683871e+218" dist="4.760893535051613e+217" dir="1.571298803391502e+255">
              <a:srgbClr val="1a2530">
                <a:alpha val="9.999999999999996e+263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documentadas (ADRs)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públicos de decisión (017-024) trazan cada giro técnico, del principio “la IA razona, el motor verifica” al pivote panorama-decisor.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Soberanía, seguridad y cumplimiento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corre en infraestructura del Estado y solo toca datos que ya son públicos. El diseño protege a las personas y hace el sistema auditable de punta a punta.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0154449298385163e+222" dist="6.046334789515548e+221" dir="9.427792820349012e+259">
              <a:srgbClr val="1a2530">
                <a:alpha val="9.999999999999996e+268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Infraestructura del Estado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corre en una VM pública bajo VPN estatal; los datos consultados son públicos por definición.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5596150608949156e+226" dist="7.678845182684747e+225" dir="5.656675692209407e+264">
              <a:srgbClr val="1a2530">
                <a:alpha val="9.999999999999995e+273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datos personales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registro y cero rastreadores. La telemetría es agregada y anónima: mide qué se consulta, nunca quién.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250711127336543e+230" dist="9.75213338200963e+229" dir="3.3940054153256444e+269">
              <a:srgbClr val="1a2530">
                <a:alpha val="9.999999999999996e+278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Solo lectura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puede escribir en ninguna fuente; la verificación de solo-lectura es una de las tres capas del pipeline.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12840313171741e+234" dist="1.2385209395152229e+234" dir="2.0364032491953868e+274">
              <a:srgbClr val="1a2530">
                <a:alpha val="9.999999999999996e+283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Repositorio abierto y auditable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documentación, pruebas y evaluación son públicos, replicables con Docker, con guía de validación para el jurado.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24307197728111e+238" dist="1.572921593184333e+238" dir="1.221841949517232e+279">
              <a:srgbClr val="1a2530">
                <a:alpha val="9.999999999999996e+288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Accesibilidad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1618 de 2013 y WCAG 2.1 AA: entrada por voz, narración de resultados, alto contraste y escala tipográfica.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65870141114701e+242" dist="1.997610423344103e+242" dir="7.331051697103393e+283">
              <a:srgbClr val="1a2530">
                <a:alpha val="9.999999999999996e+293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 oficial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n.º 1074 registrado en herramientas.datos.gov.co (2026-07-13) como aporte formal al ecosistema.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DatosVivos — Pitch Datos al Ecosistema 2026</dc:title>
  <dc:subject>PptxGenJS Presentation</dc:subject>
  <dc:creator>Equipo GIT TIC - ANI</dc:creator>
  <cp:lastModifiedBy>Equipo GIT TIC - ANI</cp:lastModifiedBy>
  <cp:revision>1</cp:revision>
  <dcterms:created xsi:type="dcterms:W3CDTF">2026-07-14T01:17:44Z</dcterms:created>
  <dcterms:modified xsi:type="dcterms:W3CDTF">2026-07-14T01:17:44Z</dcterms:modified>
</cp:coreProperties>
</file>