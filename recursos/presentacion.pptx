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8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63640"/>
            <a:ext cx="12191695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IBM Plex Mono"/>
              </a:rPr>
              <a:t>Datos|Vivos</a:t>
            </a:r>
          </a:p>
          <a:p/>
          <a:p>
            <a:pPr algn="l">
              <a:spcAft>
                <a:spcPts val="2000"/>
              </a:spcAft>
            </a:pPr>
            <a:r>
              <a:rPr sz="2000" b="0">
                <a:solidFill>
                  <a:srgbClr val="BFD4E8"/>
                </a:solidFill>
                <a:latin typeface="IBM Plex Mono"/>
              </a:rPr>
              <a:t>── datosvivos.co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Nunito Sans"/>
              </a:rPr>
              <a:t>El panorama de los datos abiertos de Colombia.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892040"/>
            <a:ext cx="534924" cy="256032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3604" y="4892040"/>
            <a:ext cx="1188720" cy="256032"/>
          </a:xfrm>
          <a:prstGeom prst="rect">
            <a:avLst/>
          </a:prstGeom>
          <a:solidFill>
            <a:srgbClr val="FF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92324" y="4892040"/>
            <a:ext cx="4219956" cy="256032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Nunito Sans"/>
              </a:rPr>
              <a:t>Concurso Datos al Ecosistema 2026: IA para Colombia — MinTIC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4E8"/>
                </a:solidFill>
                <a:latin typeface="IBM Plex Mono"/>
              </a:rPr>
              <a:t>Equipo 93 · Reto de Innovación y Tecnología (Reto 7, id 102) · Nivel Avanzado · GIT TIC — 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BFD4E8"/>
                </a:solidFill>
                <a:latin typeface="IBM Plex Mono"/>
              </a:rPr>
              <a:t>DatosVivos · datosvivos.co  —  Datos al Ecosistema 2026 · Equipo 93 · Reto 7 (id 102) · Nivel Avanzado     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EL PROBLEMA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Nadie tiene el panorama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965960"/>
            <a:ext cx="2743200" cy="2834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C32D4B"/>
                </a:solidFill>
                <a:latin typeface="IBM Plex Mono"/>
              </a:rPr>
              <a:t>✕</a:t>
            </a:r>
          </a:p>
          <a:p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02124"/>
                </a:solidFill>
                <a:latin typeface="IBM Plex Mono"/>
              </a:rPr>
              <a:t>LA ENTIDAD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no sabe cuántos datasets tiene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ni cuántos están al día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965960"/>
            <a:ext cx="2743200" cy="82296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511296" y="1965960"/>
            <a:ext cx="2743200" cy="2834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C32D4B"/>
                </a:solidFill>
                <a:latin typeface="IBM Plex Mono"/>
              </a:rPr>
              <a:t>✕</a:t>
            </a:r>
          </a:p>
          <a:p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02124"/>
                </a:solidFill>
                <a:latin typeface="IBM Plex Mono"/>
              </a:rPr>
              <a:t>EL SECTOR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sin vista consolidada de sus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entidades adscritas: cero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3511296" y="1965960"/>
            <a:ext cx="2743200" cy="82296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3952" y="1965960"/>
            <a:ext cx="2743200" cy="2834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C32D4B"/>
                </a:solidFill>
                <a:latin typeface="IBM Plex Mono"/>
              </a:rPr>
              <a:t>✕</a:t>
            </a:r>
          </a:p>
          <a:p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02124"/>
                </a:solidFill>
                <a:latin typeface="IBM Plex Mono"/>
              </a:rPr>
              <a:t>EL MINTIC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los portales federados viven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separados — no hay agregado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473952" y="1965960"/>
            <a:ext cx="2743200" cy="82296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36608" y="1965960"/>
            <a:ext cx="2743200" cy="2834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C32D4B"/>
                </a:solidFill>
                <a:latin typeface="IBM Plex Mono"/>
              </a:rPr>
              <a:t>✕</a:t>
            </a:r>
          </a:p>
          <a:p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02124"/>
                </a:solidFill>
                <a:latin typeface="IBM Plex Mono"/>
              </a:rPr>
              <a:t>EL CIUDADANO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necesita APIs y SQL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para una simple cifra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36608" y="1965960"/>
            <a:ext cx="2743200" cy="82296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02124"/>
                </a:solidFill>
                <a:latin typeface="Nunito Sans"/>
              </a:rPr>
              <a:t>El dato público existe — pero nadie puede verlo completo ni usarlo sin conocimientos técnicos.</a:t>
            </a:r>
          </a:p>
          <a:p/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011680"/>
            <a:ext cx="109728" cy="2377440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10312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004884"/>
                </a:solidFill>
                <a:latin typeface="Nunito Sans"/>
              </a:rPr>
              <a:t>“Si no conocemos, no podemos medir.</a:t>
            </a:r>
          </a:p>
          <a:p/>
          <a:p>
            <a:pPr algn="l">
              <a:spcAft>
                <a:spcPts val="1600"/>
              </a:spcAft>
            </a:pPr>
            <a:r>
              <a:rPr sz="4000" b="1">
                <a:solidFill>
                  <a:srgbClr val="004884"/>
                </a:solidFill>
                <a:latin typeface="Nunito Sans"/>
              </a:rPr>
              <a:t>Y si no medimos, no podemos mejorar.”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Nunito Sans"/>
              </a:rPr>
              <a:t>El dato bien gobernado es infraestructura — tan estratégica como las vías.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LA SOLUCIÓN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Tres niveles, una sola fuente de verdad</a:t>
            </a:r>
          </a:p>
        </p:txBody>
      </p:sp>
      <p:sp>
        <p:nvSpPr>
          <p:cNvPr id="3" name="Oval 2"/>
          <p:cNvSpPr/>
          <p:nvPr/>
        </p:nvSpPr>
        <p:spPr>
          <a:xfrm>
            <a:off x="1924812" y="1783080"/>
            <a:ext cx="768096" cy="768096"/>
          </a:xfrm>
          <a:prstGeom prst="ellips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1</a:t>
            </a:r>
          </a:p>
          <a:p/>
        </p:txBody>
      </p:sp>
      <p:sp>
        <p:nvSpPr>
          <p:cNvPr id="4" name="Rectangle 3"/>
          <p:cNvSpPr/>
          <p:nvPr/>
        </p:nvSpPr>
        <p:spPr>
          <a:xfrm>
            <a:off x="548640" y="2331720"/>
            <a:ext cx="3520440" cy="2651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800"/>
              </a:spcAft>
            </a:pPr>
            <a:r>
              <a:rPr sz="600" b="0">
                <a:solidFill>
                  <a:srgbClr val="202124"/>
                </a:solidFill>
                <a:latin typeface="Nunito Sans"/>
              </a:rPr>
              <a:t/>
            </a:r>
          </a:p>
          <a:p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INICIO</a:t>
            </a:r>
          </a:p>
          <a:p>
            <a:pPr algn="ctr">
              <a:spcAft>
                <a:spcPts val="800"/>
              </a:spcAft>
            </a:pPr>
            <a:r>
              <a:rPr sz="1300" b="0">
                <a:solidFill>
                  <a:srgbClr val="3366CC"/>
                </a:solidFill>
                <a:latin typeface="IBM Plex Mono"/>
              </a:rPr>
              <a:t>datosvivos.co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panorama nacional en vivo.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Para decidir en segundos.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31720"/>
            <a:ext cx="3520440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65292" y="1783080"/>
            <a:ext cx="768096" cy="768096"/>
          </a:xfrm>
          <a:prstGeom prst="ellips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2</a:t>
            </a:r>
          </a:p>
          <a:p/>
        </p:txBody>
      </p:sp>
      <p:sp>
        <p:nvSpPr>
          <p:cNvPr id="7" name="Rectangle 6"/>
          <p:cNvSpPr/>
          <p:nvPr/>
        </p:nvSpPr>
        <p:spPr>
          <a:xfrm>
            <a:off x="4389120" y="2331720"/>
            <a:ext cx="3520440" cy="2651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800"/>
              </a:spcAft>
            </a:pPr>
            <a:r>
              <a:rPr sz="600" b="0">
                <a:solidFill>
                  <a:srgbClr val="202124"/>
                </a:solidFill>
                <a:latin typeface="Nunito Sans"/>
              </a:rPr>
              <a:t/>
            </a:r>
          </a:p>
          <a:p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DETALLE ENTIDAD</a:t>
            </a:r>
          </a:p>
          <a:p>
            <a:pPr algn="ctr">
              <a:spcAft>
                <a:spcPts val="800"/>
              </a:spcAft>
            </a:pPr>
            <a:r>
              <a:rPr sz="1300" b="0">
                <a:solidFill>
                  <a:srgbClr val="3366CC"/>
                </a:solidFill>
                <a:latin typeface="IBM Plex Mono"/>
              </a:rPr>
              <a:t>/tablero · Power BI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Filtros por sector, entidad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y territorio. Para gestionar.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331720"/>
            <a:ext cx="3520440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5772" y="1783080"/>
            <a:ext cx="768096" cy="768096"/>
          </a:xfrm>
          <a:prstGeom prst="ellips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3</a:t>
            </a:r>
          </a:p>
          <a:p/>
        </p:txBody>
      </p:sp>
      <p:sp>
        <p:nvSpPr>
          <p:cNvPr id="10" name="Rectangle 9"/>
          <p:cNvSpPr/>
          <p:nvPr/>
        </p:nvSpPr>
        <p:spPr>
          <a:xfrm>
            <a:off x="8229600" y="2331720"/>
            <a:ext cx="3520440" cy="2651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800"/>
              </a:spcAft>
            </a:pPr>
            <a:r>
              <a:rPr sz="600" b="0">
                <a:solidFill>
                  <a:srgbClr val="202124"/>
                </a:solidFill>
                <a:latin typeface="Nunito Sans"/>
              </a:rPr>
              <a:t/>
            </a:r>
          </a:p>
          <a:p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BUSCAR</a:t>
            </a:r>
          </a:p>
          <a:p>
            <a:pPr algn="ctr">
              <a:spcAft>
                <a:spcPts val="800"/>
              </a:spcAft>
            </a:pPr>
            <a:r>
              <a:rPr sz="1300" b="0">
                <a:solidFill>
                  <a:srgbClr val="3366CC"/>
                </a:solidFill>
                <a:latin typeface="IBM Plex Mono"/>
              </a:rPr>
              <a:t>/buscar · lenguaje natural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Pregunta en tus palabras;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cifra verificada con fuente.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2331720"/>
            <a:ext cx="3520440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3035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6368"/>
                </a:solidFill>
                <a:latin typeface="Nunito Sans"/>
              </a:rPr>
              <a:t>De lo general a lo puntual: panorama → detalle → dato exacto. Cada nivel dirige al siguiente.</a:t>
            </a:r>
          </a:p>
          <a:p/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1/3 · INICIO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El panorama, en vivo — se actualiza solo cada día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783080"/>
            <a:ext cx="2602153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004884"/>
                </a:solidFill>
                <a:latin typeface="IBM Plex Mono"/>
              </a:rPr>
              <a:t>25.226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datasets integrados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2602153" cy="82296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79393" y="1783080"/>
            <a:ext cx="2602153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004884"/>
                </a:solidFill>
                <a:latin typeface="IBM Plex Mono"/>
              </a:rPr>
              <a:t>1.423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entidades publicadoras</a:t>
            </a:r>
          </a:p>
        </p:txBody>
      </p:sp>
      <p:sp>
        <p:nvSpPr>
          <p:cNvPr id="6" name="Rectangle 5"/>
          <p:cNvSpPr/>
          <p:nvPr/>
        </p:nvSpPr>
        <p:spPr>
          <a:xfrm>
            <a:off x="3379393" y="1783080"/>
            <a:ext cx="2602153" cy="82296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0146" y="1783080"/>
            <a:ext cx="2602153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004884"/>
                </a:solidFill>
                <a:latin typeface="IBM Plex Mono"/>
              </a:rPr>
              <a:t>6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portales consolidados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0146" y="1783080"/>
            <a:ext cx="2602153" cy="82296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40899" y="1783080"/>
            <a:ext cx="2602153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004884"/>
                </a:solidFill>
                <a:latin typeface="IBM Plex Mono"/>
              </a:rPr>
              <a:t>29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variables curadas c/u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40899" y="1783080"/>
            <a:ext cx="2602153" cy="82296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566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366CC"/>
                </a:solidFill>
                <a:latin typeface="IBM Plex Mono"/>
              </a:rPr>
              <a:t>EL HALLAZGO QUE NADIE VEÍA — frescura contra la promesa de cada entidad:</a:t>
            </a:r>
          </a:p>
          <a:p/>
        </p:txBody>
      </p:sp>
      <p:sp>
        <p:nvSpPr>
          <p:cNvPr id="12" name="Rectangle 11"/>
          <p:cNvSpPr/>
          <p:nvPr/>
        </p:nvSpPr>
        <p:spPr>
          <a:xfrm>
            <a:off x="594360" y="4069080"/>
            <a:ext cx="990020" cy="685800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584380" y="4069080"/>
            <a:ext cx="2200046" cy="685800"/>
          </a:xfrm>
          <a:prstGeom prst="rect">
            <a:avLst/>
          </a:prstGeom>
          <a:solidFill>
            <a:srgbClr val="FF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84426" y="4069080"/>
            <a:ext cx="7810164" cy="685800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28032"/>
            <a:ext cx="11000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068460"/>
                </a:solidFill>
                <a:latin typeface="IBM Plex Mono"/>
              </a:rPr>
              <a:t>■ </a:t>
            </a:r>
            <a:r>
              <a:rPr sz="1300">
                <a:solidFill>
                  <a:srgbClr val="202124"/>
                </a:solidFill>
                <a:latin typeface="Nunito Sans"/>
              </a:rPr>
              <a:t>9 % al día      </a:t>
            </a:r>
            <a:r>
              <a:rPr sz="1500">
                <a:solidFill>
                  <a:srgbClr val="FFAB00"/>
                </a:solidFill>
                <a:latin typeface="IBM Plex Mono"/>
              </a:rPr>
              <a:t>■ </a:t>
            </a:r>
            <a:r>
              <a:rPr sz="1300">
                <a:solidFill>
                  <a:srgbClr val="202124"/>
                </a:solidFill>
                <a:latin typeface="Nunito Sans"/>
              </a:rPr>
              <a:t>20 % atrasado      </a:t>
            </a:r>
            <a:r>
              <a:rPr sz="1500">
                <a:solidFill>
                  <a:srgbClr val="C32D4B"/>
                </a:solidFill>
                <a:latin typeface="IBM Plex Mono"/>
              </a:rPr>
              <a:t>■ </a:t>
            </a:r>
            <a:r>
              <a:rPr sz="1300">
                <a:solidFill>
                  <a:srgbClr val="202124"/>
                </a:solidFill>
                <a:latin typeface="Nunito Sans"/>
              </a:rPr>
              <a:t>71 % MUY atrasado (rojo)    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257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02124"/>
                </a:solidFill>
                <a:latin typeface="Nunito Sans"/>
              </a:rPr>
              <a:t>El 71 % del catálogo incumple la frecuencia que su PROPIA entidad declaró — invisible hasta ahora.</a:t>
            </a:r>
          </a:p>
          <a:p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6368"/>
                </a:solidFill>
                <a:latin typeface="IBM Plex Mono"/>
              </a:rPr>
              <a:t>Cifras del corte 2026-07-12, verificables en vivo: datosvivos.co/api/v1/stats/panorama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2/3 · DETALLE ENTIDAD (POWER BI)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El control de gestión, en dos clics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5432907" cy="1600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Semáforo por entidad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verde ≤ frecuencia declarada · amarillo ≤ 2× · rojo &gt; 2×. El % de cumplimiento listo para gestión.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0147" y="1828800"/>
            <a:ext cx="5432907" cy="1600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Uso real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descargas, vistas e interés reciente: qué datasets le importan a la ciudadanía.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0147" y="182880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3630168"/>
            <a:ext cx="5432907" cy="1600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Territorio DIVIPOLA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mapa con drill departamento → municipio (~89 % de cobertura inferida con IA).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630168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0147" y="3630168"/>
            <a:ext cx="5432907" cy="1600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Filtros del decisor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sector · entidad · acceso · calidad (Ley 1712) · territorio.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3630168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4864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04884"/>
                </a:solidFill>
                <a:latin typeface="Nunito Sans"/>
              </a:rPr>
              <a:t>La IA está DETRÁS del tablero: depuración, consolidación y casos de calidad de los datos se definieron con IA.</a:t>
            </a:r>
          </a:p>
          <a:p/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3/3 · BUSCAR (LENGUAJE NATURAL)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“¿Cuántos colegios públicos hay en Boyacá?”</a:t>
            </a:r>
          </a:p>
        </p:txBody>
      </p:sp>
      <p:sp>
        <p:nvSpPr>
          <p:cNvPr id="3" name="Pentagon 2"/>
          <p:cNvSpPr/>
          <p:nvPr/>
        </p:nvSpPr>
        <p:spPr>
          <a:xfrm>
            <a:off x="548640" y="2103120"/>
            <a:ext cx="2131100" cy="1463040"/>
          </a:xfrm>
          <a:prstGeom prst="homePlat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103120"/>
            <a:ext cx="1099647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unito Sans"/>
              </a:rPr>
              <a:t>Pregunta</a:t>
            </a:r>
          </a:p>
          <a:p/>
          <a:p>
            <a:pPr algn="ctr">
              <a:spcAft>
                <a:spcPts val="0"/>
              </a:spcAft>
            </a:pPr>
            <a:r>
              <a:rPr sz="1000" b="0">
                <a:solidFill>
                  <a:srgbClr val="BFD4E8"/>
                </a:solidFill>
                <a:latin typeface="Nunito Sans"/>
              </a:rPr>
              <a:t>en tus palabras</a:t>
            </a:r>
          </a:p>
        </p:txBody>
      </p:sp>
      <p:sp>
        <p:nvSpPr>
          <p:cNvPr id="5" name="Chevron 4"/>
          <p:cNvSpPr/>
          <p:nvPr/>
        </p:nvSpPr>
        <p:spPr>
          <a:xfrm>
            <a:off x="2789468" y="2103120"/>
            <a:ext cx="2131100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58310" y="2103120"/>
            <a:ext cx="1099647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unito Sans"/>
              </a:rPr>
              <a:t>La IA genera</a:t>
            </a:r>
          </a:p>
          <a:p/>
          <a:p>
            <a:pPr algn="ctr">
              <a:spcAft>
                <a:spcPts val="0"/>
              </a:spcAft>
            </a:pPr>
            <a:r>
              <a:rPr sz="1000" b="0">
                <a:solidFill>
                  <a:srgbClr val="BFD4E8"/>
                </a:solidFill>
                <a:latin typeface="Nunito Sans"/>
              </a:rPr>
              <a:t>SQL sobre columnas reales</a:t>
            </a:r>
          </a:p>
        </p:txBody>
      </p:sp>
      <p:sp>
        <p:nvSpPr>
          <p:cNvPr id="7" name="Chevron 6"/>
          <p:cNvSpPr/>
          <p:nvPr/>
        </p:nvSpPr>
        <p:spPr>
          <a:xfrm>
            <a:off x="5030296" y="2103120"/>
            <a:ext cx="2131100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99138" y="2103120"/>
            <a:ext cx="1099647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unito Sans"/>
              </a:rPr>
              <a:t>El código verifica</a:t>
            </a:r>
          </a:p>
          <a:p/>
          <a:p>
            <a:pPr algn="ctr">
              <a:spcAft>
                <a:spcPts val="0"/>
              </a:spcAft>
            </a:pPr>
            <a:r>
              <a:rPr sz="1000" b="0">
                <a:solidFill>
                  <a:srgbClr val="BFD4E8"/>
                </a:solidFill>
                <a:latin typeface="Nunito Sans"/>
              </a:rPr>
              <a:t>antes de ejecutar</a:t>
            </a:r>
          </a:p>
        </p:txBody>
      </p:sp>
      <p:sp>
        <p:nvSpPr>
          <p:cNvPr id="9" name="Chevron 8"/>
          <p:cNvSpPr/>
          <p:nvPr/>
        </p:nvSpPr>
        <p:spPr>
          <a:xfrm>
            <a:off x="7271124" y="2103120"/>
            <a:ext cx="2131100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39966" y="2103120"/>
            <a:ext cx="1099647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unito Sans"/>
              </a:rPr>
              <a:t>Datos oficiales</a:t>
            </a:r>
          </a:p>
          <a:p/>
          <a:p>
            <a:pPr algn="ctr">
              <a:spcAft>
                <a:spcPts val="0"/>
              </a:spcAft>
            </a:pPr>
            <a:r>
              <a:rPr sz="1000" b="0">
                <a:solidFill>
                  <a:srgbClr val="BFD4E8"/>
                </a:solidFill>
                <a:latin typeface="Nunito Sans"/>
              </a:rPr>
              <a:t>filas reales, no memoria</a:t>
            </a:r>
          </a:p>
        </p:txBody>
      </p:sp>
      <p:sp>
        <p:nvSpPr>
          <p:cNvPr id="11" name="Chevron 10"/>
          <p:cNvSpPr/>
          <p:nvPr/>
        </p:nvSpPr>
        <p:spPr>
          <a:xfrm>
            <a:off x="9511952" y="2103120"/>
            <a:ext cx="2131100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80794" y="2103120"/>
            <a:ext cx="1099647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unito Sans"/>
              </a:rPr>
              <a:t>Cifra + fuente</a:t>
            </a:r>
          </a:p>
          <a:p/>
          <a:p>
            <a:pPr algn="ctr">
              <a:spcAft>
                <a:spcPts val="0"/>
              </a:spcAft>
            </a:pPr>
            <a:r>
              <a:rPr sz="1000" b="0">
                <a:solidFill>
                  <a:srgbClr val="BFD4E8"/>
                </a:solidFill>
                <a:latin typeface="Nunito Sans"/>
              </a:rPr>
              <a:t>verificada y citada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06240"/>
            <a:ext cx="36981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68460"/>
                </a:solidFill>
                <a:latin typeface="IBM Plex Mono"/>
              </a:rPr>
              <a:t>0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cifras inventadas — si no se puede verificar, se rehúsa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46778" y="4206240"/>
            <a:ext cx="36981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100 %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respuestas con fuente citada y consulta 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44916" y="4206240"/>
            <a:ext cx="36981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3366CC"/>
                </a:solidFill>
                <a:latin typeface="IBM Plex Mono"/>
              </a:rPr>
              <a:t>Voz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entrada hablada y respuesta narrada (Ley 1618)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TECNOLOGÍAS EMERGENTES · IA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La IA razona, el motor verifica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691640"/>
            <a:ext cx="11091672" cy="777240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Nunito Sans"/>
              </a:rPr>
              <a:t>IA generativa + arquitectura híbrida — pertinente, aplicable e interpretable. Nunca superficial.</a:t>
            </a:r>
          </a:p>
          <a:p/>
        </p:txBody>
      </p:sp>
      <p:sp>
        <p:nvSpPr>
          <p:cNvPr id="4" name="Rectangle 3"/>
          <p:cNvSpPr/>
          <p:nvPr/>
        </p:nvSpPr>
        <p:spPr>
          <a:xfrm>
            <a:off x="548640" y="2697480"/>
            <a:ext cx="5376672" cy="3154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3366CC"/>
                </a:solidFill>
                <a:latin typeface="IBM Plex Mono"/>
              </a:rPr>
              <a:t>EN LOS TABLEROS</a:t>
            </a:r>
          </a:p>
          <a:p/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Consolidación de 6 portales heterogéneos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Clasificación automática de calidad (Ley 1712)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Curación de columnas con LLM + heurísticas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Inferencia territorial DIVIPOLA (~89 %)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Guardas anti-basura en la ingesta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697480"/>
            <a:ext cx="5376672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3640" y="2697480"/>
            <a:ext cx="5376672" cy="3154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3366CC"/>
                </a:solidFill>
                <a:latin typeface="IBM Plex Mono"/>
              </a:rPr>
              <a:t>EN EL BUSCADOR</a:t>
            </a:r>
          </a:p>
          <a:p/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NL2SQL verificado en 3 capas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Embeddings e5 + ChromaDB (retrieval semántico)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6 tipos de respuesta (conteo, suma, mapa…)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Narrativa anti-alucinación (censura números ajenos)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MCP server para cualquier agente de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697480"/>
            <a:ext cx="5376672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RIGOR TÉCNICO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CRISP-ML(Q), adaptado a un catálogo vivo</a:t>
            </a:r>
          </a:p>
        </p:txBody>
      </p:sp>
      <p:sp>
        <p:nvSpPr>
          <p:cNvPr id="3" name="Pentagon 2"/>
          <p:cNvSpPr/>
          <p:nvPr/>
        </p:nvSpPr>
        <p:spPr>
          <a:xfrm>
            <a:off x="548640" y="2011680"/>
            <a:ext cx="1757629" cy="1554480"/>
          </a:xfrm>
          <a:prstGeom prst="homePlat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Entender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el problema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y las fuentes</a:t>
            </a:r>
          </a:p>
        </p:txBody>
      </p:sp>
      <p:sp>
        <p:nvSpPr>
          <p:cNvPr id="5" name="Chevron 4"/>
          <p:cNvSpPr/>
          <p:nvPr/>
        </p:nvSpPr>
        <p:spPr>
          <a:xfrm>
            <a:off x="2415997" y="2011680"/>
            <a:ext cx="1757629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02675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Preparar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la IA depura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y consolida</a:t>
            </a:r>
          </a:p>
        </p:txBody>
      </p:sp>
      <p:sp>
        <p:nvSpPr>
          <p:cNvPr id="7" name="Chevron 6"/>
          <p:cNvSpPr/>
          <p:nvPr/>
        </p:nvSpPr>
        <p:spPr>
          <a:xfrm>
            <a:off x="4283354" y="2011680"/>
            <a:ext cx="1757629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0032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Modelar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generar →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VERIFICAR</a:t>
            </a:r>
          </a:p>
        </p:txBody>
      </p:sp>
      <p:sp>
        <p:nvSpPr>
          <p:cNvPr id="9" name="Chevron 8"/>
          <p:cNvSpPr/>
          <p:nvPr/>
        </p:nvSpPr>
        <p:spPr>
          <a:xfrm>
            <a:off x="6150711" y="2011680"/>
            <a:ext cx="1757629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389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Evaluar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golden sets +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ciclo ciudadano</a:t>
            </a:r>
          </a:p>
        </p:txBody>
      </p:sp>
      <p:sp>
        <p:nvSpPr>
          <p:cNvPr id="11" name="Chevron 10"/>
          <p:cNvSpPr/>
          <p:nvPr/>
        </p:nvSpPr>
        <p:spPr>
          <a:xfrm>
            <a:off x="8018068" y="2011680"/>
            <a:ext cx="1757629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4746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Desplegar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producción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reproducible</a:t>
            </a:r>
          </a:p>
        </p:txBody>
      </p:sp>
      <p:sp>
        <p:nvSpPr>
          <p:cNvPr id="13" name="Chevron 12"/>
          <p:cNvSpPr/>
          <p:nvPr/>
        </p:nvSpPr>
        <p:spPr>
          <a:xfrm>
            <a:off x="9885425" y="2011680"/>
            <a:ext cx="1757629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2103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Monitorear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la Q: deriva del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CATÁLOGO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60520"/>
            <a:ext cx="5432907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La adaptación central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en vez de entrenar-y-congelar un modelo, CADA consulta pasa por generación (LLM) → verificación (código) → ejecución.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6052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4160520"/>
            <a:ext cx="5432907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Evaluación doble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golden sets técnicos versionados + ciclo ciudadano: 50 preguntas reales con respuesta esperada pre-registrada, corridas por ciclos.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0147" y="416052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CUMPLIMIENTO DEL TDR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Nivel Avanzado, con la letra del pliego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Agentes de IA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consulta y procesa datos abiertos automáticamente para responder a la ciudadanía.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22978" y="1828800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IA generativa conversacional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buscador NL2SQL / Text-to-SQL generativo verificado.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2978" y="1828800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7316" y="1828800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Arquitectura híbrida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LLM razona + motor determinista verifica + embeddings neuronales.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828800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13048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Grandes volúmenes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25.226 datasets · 6 fuentes · 3 protocolos (el intermedio pide 3-10 conjuntos).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13048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2978" y="3813048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Estructurados y no estructurados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metadata + texto libre con embeddings; 29 variables curadas (el intermedio pide 10-20).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3813048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7316" y="3813048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Despliegue funcional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actualización diaria automática y EN PRODUCCIÓN: datosvivos.co.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7316" y="3813048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IMPACTO Y ESCALABILIDAD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De la entidad al país</a:t>
            </a:r>
          </a:p>
        </p:txBody>
      </p:sp>
      <p:sp>
        <p:nvSpPr>
          <p:cNvPr id="3" name="Pentagon 2"/>
          <p:cNvSpPr/>
          <p:nvPr/>
        </p:nvSpPr>
        <p:spPr>
          <a:xfrm>
            <a:off x="548640" y="1965960"/>
            <a:ext cx="2691307" cy="1463040"/>
          </a:xfrm>
          <a:prstGeom prst="homePlat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1388715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Nunito Sans"/>
              </a:rPr>
              <a:t>Entidad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ve su rezago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corrige</a:t>
            </a:r>
          </a:p>
        </p:txBody>
      </p:sp>
      <p:sp>
        <p:nvSpPr>
          <p:cNvPr id="5" name="Chevron 4"/>
          <p:cNvSpPr/>
          <p:nvPr/>
        </p:nvSpPr>
        <p:spPr>
          <a:xfrm>
            <a:off x="3349675" y="1965960"/>
            <a:ext cx="2691307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41762" y="1965960"/>
            <a:ext cx="1388715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Nunito Sans"/>
              </a:rPr>
              <a:t>Sector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control consolidado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gestiona</a:t>
            </a:r>
          </a:p>
        </p:txBody>
      </p:sp>
      <p:sp>
        <p:nvSpPr>
          <p:cNvPr id="7" name="Chevron 6"/>
          <p:cNvSpPr/>
          <p:nvPr/>
        </p:nvSpPr>
        <p:spPr>
          <a:xfrm>
            <a:off x="6150710" y="1965960"/>
            <a:ext cx="2691307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2797" y="1965960"/>
            <a:ext cx="1388715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Nunito Sans"/>
              </a:rPr>
              <a:t>MinTIC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panorama medible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política</a:t>
            </a:r>
          </a:p>
        </p:txBody>
      </p:sp>
      <p:sp>
        <p:nvSpPr>
          <p:cNvPr id="9" name="Chevron 8"/>
          <p:cNvSpPr/>
          <p:nvPr/>
        </p:nvSpPr>
        <p:spPr>
          <a:xfrm>
            <a:off x="8951745" y="1965960"/>
            <a:ext cx="2691307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43832" y="1965960"/>
            <a:ext cx="1388715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Nunito Sans"/>
              </a:rPr>
              <a:t>Ciudadanía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dato sin barreras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apropiación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033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02124"/>
                </a:solidFill>
                <a:latin typeface="Nunito Sans"/>
              </a:rPr>
              <a:t>Escala: agregar un portal es configuración — el patrón sirve a cualquier país con Socrata, CKAN o DCAT.</a:t>
            </a:r>
          </a:p>
          <a:p/>
        </p:txBody>
      </p:sp>
      <p:sp>
        <p:nvSpPr>
          <p:cNvPr id="12" name="Rectangle 11"/>
          <p:cNvSpPr/>
          <p:nvPr/>
        </p:nvSpPr>
        <p:spPr>
          <a:xfrm>
            <a:off x="548640" y="4526280"/>
            <a:ext cx="11091672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366CC"/>
                </a:solidFill>
                <a:latin typeface="IBM Plex Mono"/>
              </a:rPr>
              <a:t>EQUIPO GIT TIC — AGENCIA NACIONAL DE INFRAESTRUCTURA (ANI)</a:t>
            </a:r>
          </a:p>
          <a:p/>
          <a:p>
            <a:pPr algn="l"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Nunito Sans"/>
              </a:rPr>
              <a:t>Hernán Darío Gutiérrez Casas — líder estratégico  ·  Ileana Andrea Navarro Castrillón — líder de equipo y comunicaciones  ·  Jhonatan Sneider Rico Pinto — líder técnico y de datos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26280"/>
            <a:ext cx="11091672" cy="82296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8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FD4E8"/>
                </a:solidFill>
                <a:latin typeface="IBM Plex Mono"/>
              </a:rPr>
              <a:t>LO QUE YA CORRE · JULIO 2026</a:t>
            </a:r>
          </a:p>
          <a:p/>
        </p:txBody>
      </p:sp>
      <p:sp>
        <p:nvSpPr>
          <p:cNvPr id="3" name="TextBox 2"/>
          <p:cNvSpPr txBox="1"/>
          <p:nvPr/>
        </p:nvSpPr>
        <p:spPr>
          <a:xfrm>
            <a:off x="822960" y="1783080"/>
            <a:ext cx="2606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~1.5 s</a:t>
            </a:r>
          </a:p>
          <a:p/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motor de lenguaje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en la API de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783080"/>
            <a:ext cx="2606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10.279</a:t>
            </a:r>
          </a:p>
          <a:p/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datasets en bodega local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respuesta en milisegundos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783080"/>
            <a:ext cx="2606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100 %</a:t>
            </a:r>
          </a:p>
          <a:p/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catalogación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temática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783080"/>
            <a:ext cx="2606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50</a:t>
            </a:r>
          </a:p>
          <a:p/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preguntas ciudadanas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mejoras estructurales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unito Sans"/>
              </a:rPr>
              <a:t>Lo que sigue: filtros de año/municipio dentro del dataset · respuestas compuestas (KPI + tendencia + per cápita).</a:t>
            </a:r>
          </a:p>
          <a:p/>
        </p:txBody>
      </p:sp>
      <p:sp>
        <p:nvSpPr>
          <p:cNvPr id="8" name="Rectangle 7"/>
          <p:cNvSpPr/>
          <p:nvPr/>
        </p:nvSpPr>
        <p:spPr>
          <a:xfrm>
            <a:off x="822960" y="4343400"/>
            <a:ext cx="10515600" cy="2743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617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IBM Plex Mono"/>
              </a:rPr>
              <a:t>datosvivos.co</a:t>
            </a:r>
          </a:p>
          <a:p/>
          <a:p>
            <a:pPr algn="l">
              <a:spcAft>
                <a:spcPts val="600"/>
              </a:spcAft>
            </a:pPr>
            <a:r>
              <a:rPr sz="1600" b="0">
                <a:solidFill>
                  <a:srgbClr val="BFD4E8"/>
                </a:solidFill>
                <a:latin typeface="Nunito Sans"/>
              </a:rPr>
              <a:t>El panorama de los datos abiertos de Colombia. En vivo, verificable, para decidir.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BFD4E8"/>
                </a:solidFill>
                <a:latin typeface="IBM Plex Mono"/>
              </a:rPr>
              <a:t>DatosVivos · datosvivos.co  —  Datos al Ecosistema 2026 · Equipo 93 · Reto 7 (id 102) · Nivel Avanzado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B1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Arquitectura de 3 capas (fiel al plan de inscripción)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11091672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3366CC"/>
                </a:solidFill>
                <a:latin typeface="IBM Plex Mono"/>
              </a:rPr>
              <a:t>PRESENTACIÓN</a:t>
            </a:r>
          </a:p>
          <a:p/>
          <a:p>
            <a:pPr algn="l">
              <a:spcAft>
                <a:spcPts val="0"/>
              </a:spcAft>
            </a:pPr>
            <a:r>
              <a:rPr sz="1250" b="0">
                <a:solidFill>
                  <a:srgbClr val="202124"/>
                </a:solidFill>
                <a:latin typeface="Nunito Sans"/>
              </a:rPr>
              <a:t>Next.js (panorama + buscador SSE) · Power BI publish-to-web sobre CSVs públicos de la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82296" cy="123444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227832"/>
            <a:ext cx="11091672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04884"/>
                </a:solidFill>
                <a:latin typeface="IBM Plex Mono"/>
              </a:rPr>
              <a:t>MOTOR</a:t>
            </a:r>
          </a:p>
          <a:p/>
          <a:p>
            <a:pPr algn="l">
              <a:spcAft>
                <a:spcPts val="0"/>
              </a:spcAft>
            </a:pPr>
            <a:r>
              <a:rPr sz="1250" b="0">
                <a:solidFill>
                  <a:srgbClr val="202124"/>
                </a:solidFill>
                <a:latin typeface="Nunito Sans"/>
              </a:rPr>
              <a:t>FastAPI + PostgreSQL (catálogo curado, vistas _decisor) · ChromaDB (retrieval semántico en ambos caminos) · DuckDB (bodega Parquet 10.279 datasets + CSVs federados) · LLM intercambiable (prod: API de Claude)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27832"/>
            <a:ext cx="82296" cy="1234440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4626864"/>
            <a:ext cx="11091672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IBM Plex Mono"/>
              </a:rPr>
              <a:t>MCP / FUENTES</a:t>
            </a:r>
          </a:p>
          <a:p/>
          <a:p>
            <a:pPr algn="l">
              <a:spcAft>
                <a:spcPts val="0"/>
              </a:spcAft>
            </a:pPr>
            <a:r>
              <a:rPr sz="1250" b="0">
                <a:solidFill>
                  <a:srgbClr val="202124"/>
                </a:solidFill>
                <a:latin typeface="Nunito Sans"/>
              </a:rPr>
              <a:t>MCP server sobre las APIs de datos.gov.co (Discovery · SODA · Metadata) + cosecha CKAN/DCAT — search · metadata · query · cross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626864"/>
            <a:ext cx="82296" cy="1234440"/>
          </a:xfrm>
          <a:prstGeom prst="rect">
            <a:avLst/>
          </a:prstGeom>
          <a:solidFill>
            <a:srgbClr val="20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989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368"/>
                </a:solidFill>
                <a:latin typeface="IBM Plex Mono"/>
              </a:rPr>
              <a:t>Despliegue: Docker Compose reproducible · túnel seguro de salida · cron diario (ETL + regla de cola de la bodega).</a:t>
            </a:r>
          </a:p>
          <a:p/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B2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Motor NL2SQL: generar no basta — hay que verificar</a:t>
            </a:r>
          </a:p>
        </p:txBody>
      </p:sp>
      <p:sp>
        <p:nvSpPr>
          <p:cNvPr id="3" name="Pentagon 2"/>
          <p:cNvSpPr/>
          <p:nvPr/>
        </p:nvSpPr>
        <p:spPr>
          <a:xfrm>
            <a:off x="548640" y="2011680"/>
            <a:ext cx="2691307" cy="1554480"/>
          </a:xfrm>
          <a:prstGeom prst="homePlat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1680"/>
            <a:ext cx="1388715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Capa 1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el LLM genera viendo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SOLO columnas reales</a:t>
            </a:r>
          </a:p>
        </p:txBody>
      </p:sp>
      <p:sp>
        <p:nvSpPr>
          <p:cNvPr id="5" name="Chevron 4"/>
          <p:cNvSpPr/>
          <p:nvPr/>
        </p:nvSpPr>
        <p:spPr>
          <a:xfrm>
            <a:off x="3349675" y="2011680"/>
            <a:ext cx="2691307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41762" y="2011680"/>
            <a:ext cx="1388715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Capa 2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código valida columnas,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funciones y solo-lectura</a:t>
            </a:r>
          </a:p>
        </p:txBody>
      </p:sp>
      <p:sp>
        <p:nvSpPr>
          <p:cNvPr id="7" name="Chevron 6"/>
          <p:cNvSpPr/>
          <p:nvPr/>
        </p:nvSpPr>
        <p:spPr>
          <a:xfrm>
            <a:off x="6150710" y="2011680"/>
            <a:ext cx="2691307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2797" y="2011680"/>
            <a:ext cx="1388715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Capa 3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cada cifra se contrasta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contra las filas reales</a:t>
            </a:r>
          </a:p>
        </p:txBody>
      </p:sp>
      <p:sp>
        <p:nvSpPr>
          <p:cNvPr id="9" name="Chevron 8"/>
          <p:cNvSpPr/>
          <p:nvPr/>
        </p:nvSpPr>
        <p:spPr>
          <a:xfrm>
            <a:off x="8951745" y="2011680"/>
            <a:ext cx="2691307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43832" y="2011680"/>
            <a:ext cx="1388715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Repara / Rehúsa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si no verifica,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NO responde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160520"/>
            <a:ext cx="5432907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Preferimos no responder a responder mal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ciclo de reparación acotado; si la verificación persiste en fallar, refusal explícito.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16052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0147" y="4160520"/>
            <a:ext cx="5432907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Respaldo determinista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plantillas por tipo (conteo · suma · comparación · ranking · tendencia · mapa) como camino estructurado con chips.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416052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B3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Modelo de datos: una vista curada como fuente única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datasets (42 columnas)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una fila por dataset del catálogo integrado; upsert idempotente por dataset_id (auditado: 0 duplicados de clave).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v_dataset_status_decisor (29 variables)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identidad, semáforo de frescura, uso, acceso, territorio DIVIPOLA y calidad.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v_entity_summary_decisor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agregado por entidad con pct_verdes: el indicador de cumplimiento listo para gestión.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dataset_snapshots (bodega)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manifest de los 10.279 Parquet locales: frescura del snapshot decide bodega-vs-vivo; orígenes muertos (403) penalizan el ranking.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Una sola fuente de verdad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panorama web, tablero Power BI y CSVs públicos leen LA MISMA vista — imposible que se desalineen.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B4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Calidad de datos: medida, no declarada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Auditoría columna a columna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17/18 columnas al 100 % de fidelidad contra la fuente Socrata (reportes versionados en eval/reports/).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Clasificación continua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los reportes administrativos (Ley 1712) se separan de los datos temáticos automáticamente, en cada corrida del ETL.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Catalogación temática al 100 %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0 datasets útiles sin categoría; vocabulario consolidado a 26 canónicas, re-unificado cada noche.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Inferencia territorial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códigos DIVIPOLA asignados por IA con confianza registrada (~89 % de cobertura).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Guardas anti-basura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metadata de plantilla sin diligenciar ({{...}}) se limpia en TODOS los campos de la ingesta.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B5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Evaluación y trazabilidad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Golden sets versionados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eval/golden_queries.yaml y golden_chips.yaml — corridas reproducibles (últimas: 18/18 y 38/38, 0 falsos verificados).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Ciclo ciudadano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50 preguntas reales con respuesta esperada PRE-registrada (eval/ciudadano/): los patrones detectados se vuelven mejoras estructurales, y el ciclo se repite.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36 archivos de pruebas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verificador SoQL, validador anti-alucinación, reparación, geo/DIVIPOLA, cosecha, MCP, rutas de API.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Decisiones documentadas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ADRs públicos (017-023): del principio 'la IA razona, el motor verifica' al pivote panorama-decisor.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Telemetría anónima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lo más consultado alimenta la mejora sin datos personales.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B6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Soberanía, seguridad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Infraestructura del Estado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servicio corre en infraestructura pública; los datos consultados son públicos por definición.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Sin datos personales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cero registro, cero rastreadores; telemetría agregada y anónima.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Solo lectura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motor no puede escribir en ninguna fuente; verificación de solo-lectura en la capa 2.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Repo abierto y auditable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código, documentación, pruebas y evaluación públicos — replicable con Docker (guía de validación para el jurado).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Accesibilidad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Ley 1618 de 2013 y WCAG 2.1 AA: voz, narración, contraste, escala tipográfica.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