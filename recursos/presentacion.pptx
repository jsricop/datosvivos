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IBM Plex Mono"/>
              </a:rPr>
              <a:t>Datos|Vivos</a:t>
            </a:r>
          </a:p>
          <a:p/>
          <a:p>
            <a:pPr algn="l">
              <a:spcAft>
                <a:spcPts val="1800"/>
              </a:spcAft>
            </a:pPr>
            <a:r>
              <a:rPr sz="2000" b="0">
                <a:solidFill>
                  <a:srgbClr val="BFD4E8"/>
                </a:solidFill>
                <a:latin typeface="IBM Plex Mono"/>
              </a:rPr>
              <a:t>── el panorama de los datos abiertos de Colombia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unito Sans"/>
              </a:rPr>
              <a:t>Datos del Estado, en tus palabras.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Nunito Sans"/>
              </a:rPr>
              <a:t>Concurso Datos al Ecosistema 2026: IA para Colombia — MinTIC</a:t>
            </a:r>
          </a:p>
          <a:p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D4E8"/>
                </a:solidFill>
                <a:latin typeface="IBM Plex Mono"/>
              </a:rPr>
              <a:t>Equipo 93 · Reto de Innovación y Tecnología (Reto 7, id 102) · Nivel Avanzado · GIT TIC — 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IBM Plex Mono"/>
              </a:rPr>
              <a:t>DatosVivos · datosvivos.co  —  Datos al Ecosistema 2026 · Equipo 93 · Reto 7 (id 102) · Nivel Avanzado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EL PROBLEMA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Nadie tiene el panorama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La entidad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no sabe cuántos datasets tiene publicados ni cuántos están actualizados — la respuesta exige revisar el portal dataset por dataset.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El gerente de sector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con N entidades adscritas no puede hacer control: no existe una vista consolidada de qué publica su sector ni con qué frescura.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El propio MinTIC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carece de panorama: los portales federados (Bogotá, Cali, Medellín, Valle, IGAC) viven separados, con estándares distintos.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El ciudadano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que quiere una cifra necesita saber de APIs, SQL o procesar archivos. El dato público existe, pero es inaccesible.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004884"/>
                </a:solidFill>
                <a:latin typeface="Nunito Sans"/>
              </a:rPr>
              <a:t>“Si no conocemos, no podemos medir.</a:t>
            </a:r>
          </a:p>
          <a:p/>
          <a:p>
            <a:pPr algn="l">
              <a:spcAft>
                <a:spcPts val="1600"/>
              </a:spcAft>
            </a:pPr>
            <a:r>
              <a:rPr sz="4000" b="1">
                <a:solidFill>
                  <a:srgbClr val="004884"/>
                </a:solidFill>
                <a:latin typeface="Nunito Sans"/>
              </a:rPr>
              <a:t>Y si no medimos, no podemos mejorar.”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124"/>
                </a:solidFill>
                <a:latin typeface="Nunito Sans"/>
              </a:rPr>
              <a:t>El dato bien gobernado es infraestructura — tan estratégica como las vías.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LA SOLUCIÓN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DatosVivos: tres niveles, una sola fuente de 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3657600" cy="3566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366CC"/>
                </a:solidFill>
                <a:latin typeface="IBM Plex Mono"/>
              </a:rPr>
              <a:t>1 · PANORAMA</a:t>
            </a:r>
          </a:p>
          <a:p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4884"/>
                </a:solidFill>
                <a:latin typeface="Nunito Sans"/>
              </a:rPr>
              <a:t>datosvivos.co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Cifras en vivo del ecosistema completo: cuántos datasets, quién publica, qué tan frescos, cómo se accede. Para decidir en segundos.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3128" y="1920240"/>
            <a:ext cx="3657600" cy="3566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366CC"/>
                </a:solidFill>
                <a:latin typeface="IBM Plex Mono"/>
              </a:rPr>
              <a:t>2 · TABLERO</a:t>
            </a:r>
          </a:p>
          <a:p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4884"/>
                </a:solidFill>
                <a:latin typeface="Nunito Sans"/>
              </a:rPr>
              <a:t>/tablero (Power BI)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El detalle explorable: filtros por sector, entidad, acceso y territorio. Para el control de gestión.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57616" y="1920240"/>
            <a:ext cx="3657600" cy="3566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366CC"/>
                </a:solidFill>
                <a:latin typeface="IBM Plex Mono"/>
              </a:rPr>
              <a:t>3 · BUSCADOR</a:t>
            </a:r>
          </a:p>
          <a:p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4884"/>
                </a:solidFill>
                <a:latin typeface="Nunito Sans"/>
              </a:rPr>
              <a:t>/buscar (lenguaje natural)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El ciudadano pregunta en sus palabras; el motor NL2SQL verificado responde con cifras de las filas reales, citando la fuente.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Nunito Sans"/>
              </a:rPr>
              <a:t>De lo general a lo puntual: panorama → detalle → dato exacto. Cada nivel dirige al siguiente.</a:t>
            </a:r>
          </a:p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EN PRODUCCIÓN · CORTE 2026-07-10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El panorama,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2036003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4884"/>
                </a:solidFill>
                <a:latin typeface="IBM Plex Mono"/>
              </a:rPr>
              <a:t>25.192</a:t>
            </a:r>
          </a:p>
          <a:p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368"/>
                </a:solidFill>
                <a:latin typeface="Nunito Sans"/>
              </a:rPr>
              <a:t>datasets integrados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3243" y="1920240"/>
            <a:ext cx="2036003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4884"/>
                </a:solidFill>
                <a:latin typeface="IBM Plex Mono"/>
              </a:rPr>
              <a:t>1.423</a:t>
            </a:r>
          </a:p>
          <a:p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368"/>
                </a:solidFill>
                <a:latin typeface="Nunito Sans"/>
              </a:rPr>
              <a:t>entidades publicadoras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7846" y="1920240"/>
            <a:ext cx="2036003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4884"/>
                </a:solidFill>
                <a:latin typeface="IBM Plex Mono"/>
              </a:rPr>
              <a:t>6</a:t>
            </a:r>
          </a:p>
          <a:p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368"/>
                </a:solidFill>
                <a:latin typeface="Nunito Sans"/>
              </a:rPr>
              <a:t>portales consolidados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42449" y="1920240"/>
            <a:ext cx="2036003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4884"/>
                </a:solidFill>
                <a:latin typeface="IBM Plex Mono"/>
              </a:rPr>
              <a:t>29</a:t>
            </a:r>
          </a:p>
          <a:p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368"/>
                </a:solidFill>
                <a:latin typeface="Nunito Sans"/>
              </a:rPr>
              <a:t>variables curadas por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7052" y="1920240"/>
            <a:ext cx="2036003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C32D4B"/>
                </a:solidFill>
                <a:latin typeface="IBM Plex Mono"/>
              </a:rPr>
              <a:t>71 %</a:t>
            </a:r>
          </a:p>
          <a:p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368"/>
                </a:solidFill>
                <a:latin typeface="Nunito Sans"/>
              </a:rPr>
              <a:t>del catálogo en ROJO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El hallazgo que nadie veía</a:t>
            </a:r>
          </a:p>
          <a:p/>
          <a:p>
            <a:pPr algn="l">
              <a:spcAft>
                <a:spcPts val="7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el 71 % de los datasets está desactualizado frente a la frecuencia que su PROPIA entidad declaró. Solo el 9 % está al día.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Se actualiza solo, todos los días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ETL nocturno + cosecha semanal + clasificación automática. Ninguna cifra está quemada: el panorama nunca envejece.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Cifras que varían a diario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estos números son el corte del 2026-07-10 — verificables en vivo en datosvivos.co/api/v1/stats/panorama.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NIVEL 2 · POWER BI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El control de gestión, por sector y 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Salud del catálogo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semáforo de frescura por entidad: verde ≤ frecuencia declarada · amarillo ≤ 2× · rojo &gt; 2×. El % de cumplimiento por entidad, listo para gestión.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Uso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descargas, vistas e interés reciente: qué datasets importan a la ciudadanía.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Cobertura territorial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mapa DIVIPOLA con drill departamento → municipio.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Filtros del decisor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sector · entidad · tipo de acceso · calidad (Ley 1712) · territorio — la pregunta '¿cómo está MI sector?' se responde en dos clics.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IA detrás del tablero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la depuración, consolidación y definición de los casos de calidad de datos se hizo con IA: clasificación automática, curación de metadata, inferencia territorial.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NIVEL 3 · BUSCADOR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“¿Cuántos colegios públicos hay en Boyacá?”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NL2SQL / Text-to-SQL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el ciudadano escribe en lenguaje natural; el motor genera la consulta SQL sobre el dataset correcto y la ejecuta contra los datos oficiales.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Cero cifras inventadas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verificación determinista ANTES de ejecutar + validación de cada número de la respuesta contra las filas reales. Si no se puede verificar, se rehúsa — nunca se estima.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Fuente citada, siempre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cada respuesta enlaza el dataset original y muestra la consulta generada (transparencia auditable).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Accesible por diseño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entrada por voz y respuesta narrada — Ley 1618 de 2013.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TECNOLOGÍAS EMERGENTES · IA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Un agente de IA para servicios públicos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Nunito Sans"/>
              </a:rPr>
              <a:t>IA generativa + arquitectura híbrida: modelos de lenguaje que razonan, motor determinista que verifica. Pertinente, aplicable e interpretable — nunca superficial.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548640" y="2057400"/>
            <a:ext cx="5486400" cy="3794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366CC"/>
                </a:solidFill>
                <a:latin typeface="IBM Plex Mono"/>
              </a:rPr>
              <a:t>EN LOS TABLEROS</a:t>
            </a:r>
          </a:p>
          <a:p/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Depuración y consolidación de 6 portales heterogéneos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Definición de casos de calidad: clasificación automática de reportes administrativos (Ley 1712)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Curación de columnas y metadata (LLM + heurísticas)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Inferencia territorial DIVIPOLA (~89 % de cobertura)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Guardas anti-basura (metadata placeholder)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2057400"/>
            <a:ext cx="5486400" cy="3794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366CC"/>
                </a:solidFill>
                <a:latin typeface="IBM Plex Mono"/>
              </a:rPr>
              <a:t>EN EL BUSCADOR</a:t>
            </a:r>
          </a:p>
          <a:p/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NL2SQL generativo con verificación determinista de 3 capas (genera → verifica con código → ejecuta)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Embeddings semánticos (multilingual-e5 + ChromaDB) para elegir el dataset correcto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Clasificador de intención y mapeo a consultas estructuradas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Narrativa anti-alucinación: todo número se valida contra las filas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202124"/>
                </a:solidFill>
                <a:latin typeface="Nunito Sans"/>
              </a:rPr>
              <a:t>—  MCP server: las herramientas expuestas a cualquier agente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RIGOR TÉCNICO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CRISP-ML(Q), adaptado a un catálogo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Entendimiento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el 'dato' es doble: la metadata de 25.192 datasets y las filas consultadas bajo demanda.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Preparación — donde la IA depura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ETL diario + cosecha CKAN/DCAT; calidad auditada columna a columna contra la fuente (17/18 al 100 %); clasificación y curación automáticas.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Modelado — generar y VERIFICAR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adaptación central: en vez de entrenar-y-congelar, cada consulta pasa por generación (LLM) → verificación (código) → ejecución.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Evaluación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golden sets versionados + 35 archivos de pruebas + el verificador embebido en producción.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Despliegue y monitoreo (la Q)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Docker reproducible; actualización diaria automática; el semáforo monitorea la deriva DEL CATÁLOGO, no del modelo.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CUMPLIMIENTO DEL TDR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Nivel Avanzado, con la letra del pliego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Agentes de IA para servicios públicos</a:t>
            </a:r>
          </a:p>
          <a:p/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el agente consulta y procesa datos abiertos de manera automática para responder solicitudes ciudadanas.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IA generativa y sistemas conversacionales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buscador conversacional basado en datos abiertos: NL2SQL / Text-to-SQL generativo verificado.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Modelos de lenguaje + arquitectura híbrida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el LLM razona, el motor determinista verifica (3 capas) — con embeddings neuronales de retrieval.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Integración de grandes volúmenes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25.192 datasets de 6 fuentes y 3 protocolos — muy por encima de los 3-10 conjuntos del nivel intermedio.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Datos estructurados y no estructurados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metadata estructurada + texto libre procesado con embeddings; 29 variables curadas por dataset (el intermedio pide 10-20).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Automatización, escalabilidad y despliegue funcional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actualización diaria automática y solución EN PRODUCCIÓN: datosvivos.co.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POR QUÉ DATOSVIVOS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Lo que nadie más hace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Integra los portales federados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datos.gov.co + IGAC + Bogotá + Cali + Medellín + Valle en un catálogo comparable. Hoy, eso exige revisar sitio por sitio.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Se actualiza solo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panorama diario automático — no es un informe: es infraestructura viva.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Verificable de punta a punta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cada cifra con fuente citada; API pública para auditar los números del sitio; repo abierto y replicable.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Interoperable por estándar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MCP server: cualquier agente de IA puede consultar el catálogo colombiano.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Accesible e institucional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identidad gov.co, voz y narración (Ley 1618), sin registro y sin rastreadores.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IMPACTO Y ESCALABILIDAD</a:t>
            </a:r>
          </a:p>
          <a:p/>
          <a:p>
            <a:pPr algn="l">
              <a:spcAft>
                <a:spcPts val="0"/>
              </a:spcAft>
            </a:pPr>
            <a:r>
              <a:rPr sz="3200" b="1">
                <a:solidFill>
                  <a:srgbClr val="202124"/>
                </a:solidFill>
                <a:latin typeface="Nunito Sans"/>
              </a:rPr>
              <a:t>De la entidad al país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Entidad</a:t>
            </a:r>
          </a:p>
          <a:p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ve su inventario y su rezago en segundos → corrige.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Sector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control consolidado de las entidades adscritas → gestiona.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MinTIC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panorama nacional medible para las Hojas de Ruta de Datos Abiertos → política basada en evidencia.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Ciudadanía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el dato público deja de exigir conocimientos técnicos → apropiación.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04884"/>
                </a:solidFill>
                <a:latin typeface="Nunito Sans"/>
              </a:rPr>
              <a:t>Escala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agregar un portal es configuración; el patrón sirve a cualquier país Socrata/CKAN/DCAT.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EQUIPO GIT TIC — AGENCIA NACIONAL DE INFRAESTRUCTURA</a:t>
            </a:r>
          </a:p>
          <a:p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124"/>
                </a:solidFill>
                <a:latin typeface="Nunito Sans"/>
              </a:rPr>
              <a:t>Hernán Darío Gutiérrez Casas (líder estratégico) · Ileana Andrea Navarro Castrillón (líder de equipo y comunicaciones) · Jhonatan Sneider Rico Pinto (líder técnico y de datos)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FD4E8"/>
                </a:solidFill>
                <a:latin typeface="IBM Plex Mono"/>
              </a:rPr>
              <a:t>Lo que sigue</a:t>
            </a:r>
          </a:p>
          <a:p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Nunito Sans"/>
              </a:rPr>
              <a:t>1 · Migración del motor de lenguaje a la API de Claude — el backend ya es intercambiable.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  <a:latin typeface="Nunito Sans"/>
              </a:rPr>
              <a:t>2 · Cosecha y catalogación previa de datasets — casos de consulta verificados para una búsqueda aún más precisa.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IBM Plex Mono"/>
              </a:rPr>
              <a:t>datosvivos.co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FD4E8"/>
                </a:solidFill>
                <a:latin typeface="Nunito Sans"/>
              </a:rPr>
              <a:t>El panorama de los datos abiertos de Colombia. En vivo, verificable, para decidir.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IBM Plex Mono"/>
              </a:rPr>
              <a:t>DatosVivos · datosvivos.co  —  Datos al Ecosistema 2026 · Equipo 93 · Reto 7 (id 102) · Nivel Avanzado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RESPALDO TÉCNICO · B1</a:t>
            </a:r>
          </a:p>
          <a:p/>
          <a:p>
            <a:pPr algn="l">
              <a:spcAft>
                <a:spcPts val="0"/>
              </a:spcAft>
            </a:pPr>
            <a:r>
              <a:rPr sz="2800" b="1">
                <a:solidFill>
                  <a:srgbClr val="202124"/>
                </a:solidFill>
                <a:latin typeface="Nunito Sans"/>
              </a:rPr>
              <a:t>Arquitectura de 3 capas (fiel al plan inicial de inscripción)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Capa MCP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servidor MCP sobre las APIs Socrata de datos.gov.co (Discovery, SODA, Metadata) — search_datasets · get_metadata · query_data · cross_datasets.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Capa motor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FastAPI + PostgreSQL (catálogo curado, vistas _decisor) + ChromaDB (retrieval) + DuckDB (federados con CSV externo) + backend LLM intercambiable (LLM_BACKEND = ollama | anthropic).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Capa presentación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Next.js (panorama + buscador SSE) y Power BI (tablero publish-to-web sobre CSVs públicos de la API). Evolución documentada: Streamlit → Next.js (ADR-011).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Despliegue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Docker Compose con imagen reproducible, túnel seguro de salida, cron de actualización diaria.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RESPALDO TÉCNICO · B2</a:t>
            </a:r>
          </a:p>
          <a:p/>
          <a:p>
            <a:pPr algn="l">
              <a:spcAft>
                <a:spcPts val="0"/>
              </a:spcAft>
            </a:pPr>
            <a:r>
              <a:rPr sz="2800" b="1">
                <a:solidFill>
                  <a:srgbClr val="202124"/>
                </a:solidFill>
                <a:latin typeface="Nunito Sans"/>
              </a:rPr>
              <a:t>Motor NL2SQL: generar no basta — hay que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Capa 1 · Esquema real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el LLM genera viendo SOLO columnas curadas reales del dataset (tipos semánticos: dimensión/métrica/fecha/geo). No puede alucinar columnas.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Capa 2 · Verificación estática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código (no otro LLM) valida columnas, funciones permitidas, filtro territorial y solo-lectura ANTES de ejecutar.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Capa 3 · Validación del resultado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toda cifra de la narrativa se contrasta contra la lista calculada de las filas; un número ajeno censura la oración.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Reparación y refusal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si la verificación falla: ciclo de reparación acotado; si persiste, la respuesta se niega. Preferimos no responder a responder mal.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Respaldo determinista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plantillas SoQL por tipo de pregunta (conteo/comparación/ranking/tendencia/mapa) como camino estructurado con chips.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RESPALDO TÉCNICO · B3</a:t>
            </a:r>
          </a:p>
          <a:p/>
          <a:p>
            <a:pPr algn="l">
              <a:spcAft>
                <a:spcPts val="0"/>
              </a:spcAft>
            </a:pPr>
            <a:r>
              <a:rPr sz="2800" b="1">
                <a:solidFill>
                  <a:srgbClr val="202124"/>
                </a:solidFill>
                <a:latin typeface="Nunito Sans"/>
              </a:rPr>
              <a:t>Modelo de datos: una vista curada como fuente única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datasets (42 columnas)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una fila por dataset del catálogo integrado; upsert idempotente por dataset_id (auditado: 0 duplicados de clave).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v_dataset_status_decisor (29 variables)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la vista del decisor: identidad, semáforo de frescura, uso, acceso (directo/archivo/solo metadatos), territorio DIVIPOLA, calidad.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v_entity_summary_decisor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agregado por entidad con pct_verdes: el indicador de cumplimiento listo para gestión.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Una sola fuente de verdad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panorama web, tablero Power BI y CSVs públicos leen LA MISMA vista — imposible que se desalineen.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RESPALDO TÉCNICO · B4</a:t>
            </a:r>
          </a:p>
          <a:p/>
          <a:p>
            <a:pPr algn="l">
              <a:spcAft>
                <a:spcPts val="0"/>
              </a:spcAft>
            </a:pPr>
            <a:r>
              <a:rPr sz="2800" b="1">
                <a:solidFill>
                  <a:srgbClr val="202124"/>
                </a:solidFill>
                <a:latin typeface="Nunito Sans"/>
              </a:rPr>
              <a:t>Calidad de datos: medida, no declarada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Auditoría columna a columna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17/18 columnas al 100 % de fidelidad contra la fuente Socrata (reportes versionados en eval/reports/).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Clasificación continua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los 2.996 reportes administrativos (Ley 1712) se separan de los datos temáticos automáticamente, en cada corrida del ETL.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Inferencia territorial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códigos DIVIPOLA asignados por IA con confianza registrada (~89 % de cobertura del catálogo).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Guardas anti-basura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metadata placeholder sin diligenciar ({{name}}) se descarta en la ingesta; el catálogo no acumula ruido.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Atribución por origen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cada dataset se atribuye al portal donde su entidad publica originalmente — incluso las copias federadas del solapamiento cross-portal.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RESPALDO TÉCNICO · B5</a:t>
            </a:r>
          </a:p>
          <a:p/>
          <a:p>
            <a:pPr algn="l">
              <a:spcAft>
                <a:spcPts val="0"/>
              </a:spcAft>
            </a:pPr>
            <a:r>
              <a:rPr sz="2800" b="1">
                <a:solidFill>
                  <a:srgbClr val="202124"/>
                </a:solidFill>
                <a:latin typeface="Nunito Sans"/>
              </a:rPr>
              <a:t>Evaluación y 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Golden sets versionados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eval/golden_queries.yaml y golden_chips.yaml — corridas reproducibles con reportes históricos (16 en eval/reports/).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35 archivos de pruebas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verificador SoQL, validador anti-alucinación, reparación, geo/DIVIPOLA, cosecha, MCP (stdio/SSE), rutas de API.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Evaluación embebida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el verificador corre en producción en cada consulta — la garantía no es una métrica de laboratorio.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Decisiones documentadas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ADRs públicos (017-023): del principio 'la IA razona, el motor verifica' al pivote panorama-decisor.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Telemetría anónima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lo más consultado alimenta la mejora sin datos personales.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366CC"/>
                </a:solidFill>
                <a:latin typeface="IBM Plex Mono"/>
              </a:rPr>
              <a:t>RESPALDO TÉCNICO · B6</a:t>
            </a:r>
          </a:p>
          <a:p/>
          <a:p>
            <a:pPr algn="l">
              <a:spcAft>
                <a:spcPts val="0"/>
              </a:spcAft>
            </a:pPr>
            <a:r>
              <a:rPr sz="2800" b="1">
                <a:solidFill>
                  <a:srgbClr val="202124"/>
                </a:solidFill>
                <a:latin typeface="Nunito Sans"/>
              </a:rPr>
              <a:t>Soberanía, seguridad y cumplimiento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Infraestructura del Estado</a:t>
            </a:r>
          </a:p>
          <a:p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el servicio corre en infraestructura pública; los datos consultados son públicos por definición.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Sin datos personales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cero registro, cero rastreadores; telemetría agregada y anónima.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Solo lectura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el motor no puede escribir en ninguna fuente; verificación de solo-lectura en la capa 2.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Repo abierto y auditable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código, documentación, pruebas y evaluación públicos — replicable con Docker en cualquier máquina (guía de validación para el jurado).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04884"/>
                </a:solidFill>
                <a:latin typeface="Nunito Sans"/>
              </a:rPr>
              <a:t>Accesibilidad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02124"/>
                </a:solidFill>
                <a:latin typeface="Nunito Sans"/>
              </a:rPr>
              <a:t>Ley 1618 de 2013 y WCAG 2.1 AA: voz, narración, contraste, escala tipográfica.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IBM Plex Mono"/>
              </a:rPr>
              <a:t>DatosVivos · datosvivos.co  —  Datos al Ecosistema 2026 · Equipo 93 · Reto 7 (id 102) · Nivel Avanzado      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