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32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6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76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4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2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581253" y="97127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r>
              <a:rPr lang="en-US" sz="56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|</a:t>
            </a: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Vivos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12648" y="1920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2648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 del Estado, en tus palabras.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2648" y="2971800"/>
            <a:ext cx="502920" cy="8229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971800"/>
            <a:ext cx="1051560" cy="82296"/>
          </a:xfrm>
          <a:prstGeom prst="rect">
            <a:avLst/>
          </a:prstGeom>
          <a:solidFill>
            <a:srgbClr val="F5B041"/>
          </a:solidFill>
          <a:ln/>
        </p:spPr>
      </p:sp>
      <p:sp>
        <p:nvSpPr>
          <p:cNvPr id="8" name="Shape 6"/>
          <p:cNvSpPr/>
          <p:nvPr/>
        </p:nvSpPr>
        <p:spPr>
          <a:xfrm>
            <a:off x="2167128" y="2971800"/>
            <a:ext cx="2651760" cy="822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·  Andrea Navarro  ·  Hernán Gutiérrez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36027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4041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2026: IA para Colombia — MinTIC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297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93 · Reto de Innovación y Tecnología (Reto 7, id 102) · Nivel Avanzado</a:t>
            </a:r>
            <a:endParaRPr lang="en-US" sz="1150" dirty="0"/>
          </a:p>
        </p:txBody>
      </p:sp>
      <p:pic>
        <p:nvPicPr>
          <p:cNvPr id="13" name="Image 0" descr="qr_datosviv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800" y="1523883"/>
            <a:ext cx="2026556" cy="202655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409743" y="1463039"/>
            <a:ext cx="2176670" cy="2148244"/>
          </a:xfrm>
          <a:prstGeom prst="rect">
            <a:avLst/>
          </a:prstGeom>
          <a:ln w="12700">
            <a:solidFill>
              <a:srgbClr val="1ABC9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15160" y="3654135"/>
            <a:ext cx="2965837" cy="380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pic>
        <p:nvPicPr>
          <p:cNvPr id="17" name="Graphic 16" descr="Logotipo de la Agencia Nacional de Infraestructura">
            <a:extLst>
              <a:ext uri="{FF2B5EF4-FFF2-40B4-BE49-F238E27FC236}">
                <a16:creationId xmlns:a16="http://schemas.microsoft.com/office/drawing/2014/main" id="{36A2689F-9055-9CDF-01B6-6E7D42507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8" name="Graphic 17" descr="Imagen logo mintic">
            <a:extLst>
              <a:ext uri="{FF2B5EF4-FFF2-40B4-BE49-F238E27FC236}">
                <a16:creationId xmlns:a16="http://schemas.microsoft.com/office/drawing/2014/main" id="{821713CF-A877-C288-C311-79CB6647E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74EAED82-39EB-1A22-7249-23D67A668250}"/>
              </a:ext>
            </a:extLst>
          </p:cNvPr>
          <p:cNvSpPr/>
          <p:nvPr/>
        </p:nvSpPr>
        <p:spPr>
          <a:xfrm>
            <a:off x="2594610" y="138303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Nadie tiene el panorama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1" y="1691640"/>
            <a:ext cx="475488" cy="4754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59461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411" y="169164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8605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sector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4091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vista consolidada de sus entidades adscritas: cero control.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8630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101" y="169164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7774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</a:t>
            </a:r>
            <a:r>
              <a:rPr lang="en-US" sz="145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Gobierno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83260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federados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centralizado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separados: no existe el agregado nacional.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7799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791" y="169164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943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ciudadano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92429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saber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APIs y SQL para obtener una simple cifra.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dato público existe — pero nadie puede verlo completo ni usarlo sin conocimientos técnicos.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C7F005E4-7EAD-0E6D-269C-89EB71C29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E13E7F90-DF93-AD72-CC8E-B3B87CED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cuántos datasets tiene publicados ni cuántos están al día.</a:t>
            </a:r>
            <a:endParaRPr lang="en-US" sz="1050" dirty="0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2B5C4000-ACF1-D0BD-5DB6-27808B710C90}"/>
              </a:ext>
            </a:extLst>
          </p:cNvPr>
          <p:cNvSpPr/>
          <p:nvPr/>
        </p:nvSpPr>
        <p:spPr>
          <a:xfrm>
            <a:off x="59436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entidad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73152" cy="173736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600200"/>
            <a:ext cx="7040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“Si no conocemos, no podemos medir.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si no medimos, no podemos mejorar.”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" y="3063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bien gobernado es infraestructura — tan estratégica como las vías.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pic>
        <p:nvPicPr>
          <p:cNvPr id="7" name="Graphic 6" descr="Logotipo de la Agencia Nacional de Infraestructura">
            <a:extLst>
              <a:ext uri="{FF2B5EF4-FFF2-40B4-BE49-F238E27FC236}">
                <a16:creationId xmlns:a16="http://schemas.microsoft.com/office/drawing/2014/main" id="{37A1785B-420A-1C23-1649-EA4BB5EB9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8" name="Graphic 7" descr="Imagen logo mintic">
            <a:extLst>
              <a:ext uri="{FF2B5EF4-FFF2-40B4-BE49-F238E27FC236}">
                <a16:creationId xmlns:a16="http://schemas.microsoft.com/office/drawing/2014/main" id="{4ADDA24F-2580-6231-29E5-05DB44A2B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Cuatro puertas, una por audiencia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1ABC9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1863090" cy="201168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55" y="1481328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6984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093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DECISORES NACIONALES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3093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nacional en vivo.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 en segundos.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9461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F39C1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94610" y="1783080"/>
            <a:ext cx="1863090" cy="201168"/>
          </a:xfrm>
          <a:prstGeom prst="rect">
            <a:avLst/>
          </a:prstGeom>
          <a:solidFill>
            <a:srgbClr val="F39C12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545" y="1481328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16153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16153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/tablero · Power BI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72262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CABEZAS DE SECTOR Y ENTIDADES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72262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sector, entidad y territorio.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tengan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8630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8630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0B3C5D"/>
          </a:solidFill>
          <a:ln/>
        </p:spPr>
      </p:sp>
      <p:sp>
        <p:nvSpPr>
          <p:cNvPr id="22" name="Shape 18"/>
          <p:cNvSpPr/>
          <p:nvPr/>
        </p:nvSpPr>
        <p:spPr>
          <a:xfrm>
            <a:off x="4686300" y="1783080"/>
            <a:ext cx="1863090" cy="201168"/>
          </a:xfrm>
          <a:prstGeom prst="rect">
            <a:avLst/>
          </a:prstGeom>
          <a:solidFill>
            <a:srgbClr val="0B3C5D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5235" y="148132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5322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525322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 · lenguaje natural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81431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81431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natural. Con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Cero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inventados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77799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799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7D3C98"/>
          </a:solidFill>
          <a:ln/>
        </p:spPr>
      </p:sp>
      <p:sp>
        <p:nvSpPr>
          <p:cNvPr id="30" name="Shape 25"/>
          <p:cNvSpPr/>
          <p:nvPr/>
        </p:nvSpPr>
        <p:spPr>
          <a:xfrm>
            <a:off x="6777990" y="1783080"/>
            <a:ext cx="1863090" cy="201168"/>
          </a:xfrm>
          <a:prstGeom prst="rect">
            <a:avLst/>
          </a:prstGeom>
          <a:solidFill>
            <a:srgbClr val="7D3C98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925" y="1481328"/>
            <a:ext cx="301752" cy="30175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4491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4491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· agentes de IA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690600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DESARROLLADORES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690600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como herramientas para Claude, OpenAI y más.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accesibilidad en toda la plataforma: </a:t>
            </a:r>
            <a:r>
              <a:rPr lang="en-US" sz="12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voz, narración y alto contraste (Ley 1618 de 2013).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pic>
        <p:nvPicPr>
          <p:cNvPr id="39" name="Graphic 38" descr="Logotipo de la Agencia Nacional de Infraestructura">
            <a:extLst>
              <a:ext uri="{FF2B5EF4-FFF2-40B4-BE49-F238E27FC236}">
                <a16:creationId xmlns:a16="http://schemas.microsoft.com/office/drawing/2014/main" id="{D102D739-A6BB-40E6-0A30-A16CB0278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0" name="Graphic 39" descr="Imagen logo mintic">
            <a:extLst>
              <a:ext uri="{FF2B5EF4-FFF2-40B4-BE49-F238E27FC236}">
                <a16:creationId xmlns:a16="http://schemas.microsoft.com/office/drawing/2014/main" id="{A700D546-D3D6-523B-4777-9FA649A71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1/3 · INICIO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panorama en vivo y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actualizado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25.234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el catálogo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461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9461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0" name="Text 8"/>
          <p:cNvSpPr/>
          <p:nvPr/>
        </p:nvSpPr>
        <p:spPr>
          <a:xfrm>
            <a:off x="259461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1.423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4033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publicadoras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630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630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4" name="Text 12"/>
          <p:cNvSpPr/>
          <p:nvPr/>
        </p:nvSpPr>
        <p:spPr>
          <a:xfrm>
            <a:off x="468630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3202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actualizados al día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799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7799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677799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59 %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2371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consultables como tabla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HA CRECIDO EL CATÁLOGO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4088" y="28529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datasets</a:t>
            </a: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2015  →  </a:t>
            </a: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25.234 hoy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" y="3154680"/>
            <a:ext cx="3529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acelera desde 2023 — la federación de portales territoriales duplicó el catálogo visible en dos años.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1032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SECTORES Y TERRITORIO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0328" y="2852928"/>
            <a:ext cx="3529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(2.618) y Función Pública (2.169)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lideran por sector. </a:t>
            </a: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 (5.110), Cundinamarca (1.372) y Antioquia (1.289)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el territorio.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0416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 al día    </a:t>
            </a:r>
            <a:r>
              <a:rPr lang="en-US" sz="1100" dirty="0">
                <a:solidFill>
                  <a:srgbClr val="F5B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atrasado    </a:t>
            </a: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con oportunidad de mejora</a:t>
            </a: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DatosVivos hizo visible este indicador por primera vez.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vivo y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verificables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pic>
        <p:nvPicPr>
          <p:cNvPr id="31" name="Graphic 30" descr="Logotipo de la Agencia Nacional de Infraestructura">
            <a:extLst>
              <a:ext uri="{FF2B5EF4-FFF2-40B4-BE49-F238E27FC236}">
                <a16:creationId xmlns:a16="http://schemas.microsoft.com/office/drawing/2014/main" id="{175CEA16-C892-F68F-456A-2C464771AA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2" name="Graphic 31" descr="Imagen logo mintic">
            <a:extLst>
              <a:ext uri="{FF2B5EF4-FFF2-40B4-BE49-F238E27FC236}">
                <a16:creationId xmlns:a16="http://schemas.microsoft.com/office/drawing/2014/main" id="{96283558-AA31-B3D2-5EF0-F10FDD63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2/3 · DETALLE ENTIDAD (POWER BI)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control de gestión, en dos clics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615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Semáforo por entidad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1615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dentro de la frecuencia declarada, amarillo hasta 2 veces, rojo más de 2 veces. El porcentaje de cumplimiento queda listo para gestión.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572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real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2239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Descargas, vistas e interés reciente: muestra qué datasets le importan de verdad a la ciudadanía.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299008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615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Territorio DIVIPOLA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1615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con drill de departamento a municipio, con cerca del 89 % de cobertura territorial inferida con IA.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70916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29900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Filtros del decisor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223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Sector, entidad, acceso, calidad (Ley 1712) y territorio: cada gerente arma su propia vista.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está detrás del tablero: la depuración, consolidación y clasificación de calidad se definieron con IA.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784B95D9-1246-AC0D-DB95-EE9C3A3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88BD390C-CB3B-A090-3578-BEA56F660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3/3 · BUSCAR (LENGUAJE NATURAL)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“¿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Cuántos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colegios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hay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Boyacá?”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5" name="Shape 3"/>
          <p:cNvSpPr/>
          <p:nvPr/>
        </p:nvSpPr>
        <p:spPr>
          <a:xfrm>
            <a:off x="630936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clasificador detecta la intención (conteo) y el diccionario ciudadano traduce: “colegios” → “establecimientos educativos”. ~130 equivalencias curadas.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282696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58184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multilingual-e5 sobre ChromaDB recuperan el dataset pertinente entre 25 mil; el filtro territorial recorta a Boyacá vía DIVIPOLA.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062472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5" name="Shape 13"/>
          <p:cNvSpPr/>
          <p:nvPr/>
        </p:nvSpPr>
        <p:spPr>
          <a:xfrm>
            <a:off x="6190488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6" name="Text 14"/>
          <p:cNvSpPr/>
          <p:nvPr/>
        </p:nvSpPr>
        <p:spPr>
          <a:xfrm>
            <a:off x="6190488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08776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(Claude Haiku) escribe la consulta SoQL viendo SOLO las columnas curadas reales del dataset elegido — no puede inventar campos.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determinista, no IA: ¿las columnas existen? ¿las funciones son válidas? ¿es solo-lectura? Si falla, repara en ciclo acotado o rehúsa.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3282696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5" name="Shape 23"/>
          <p:cNvSpPr/>
          <p:nvPr/>
        </p:nvSpPr>
        <p:spPr>
          <a:xfrm>
            <a:off x="3410712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184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29000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la bodega Parquet local (milisegundos) o sobre el dato vivo si la fuente cambió. Cada cifra se contrasta contra las filas reales.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062472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30" name="Shape 28"/>
          <p:cNvSpPr/>
          <p:nvPr/>
        </p:nvSpPr>
        <p:spPr>
          <a:xfrm>
            <a:off x="6190488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08776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anti-alucinación: toda oración con un número que no salió del cálculo se censura. Respuesta con cifra + dataset + enlace a la fuente.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cifras inventadas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fuente citada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s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interpretación NL      </a:t>
            </a:r>
            <a:r>
              <a:rPr lang="en-US" sz="1150" i="1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“Preferimos no responder a responder mal.”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DEF28768-6A29-25B9-5630-81748E644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170547C-52FD-21F9-D08B-F291315E2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30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Veámoslo funcionando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 — producción, cifras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6" name="Shape 4"/>
          <p:cNvSpPr/>
          <p:nvPr/>
        </p:nvSpPr>
        <p:spPr>
          <a:xfrm>
            <a:off x="127901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7" name="Text 5"/>
          <p:cNvSpPr/>
          <p:nvPr/>
        </p:nvSpPr>
        <p:spPr>
          <a:xfrm>
            <a:off x="127901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436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Home: cifras en vivo del catálogo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39344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9461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070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3" name="Text 11"/>
          <p:cNvSpPr/>
          <p:nvPr/>
        </p:nvSpPr>
        <p:spPr>
          <a:xfrm>
            <a:off x="337070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64033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68605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/tablero: semáforo por entidad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8513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8630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6239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9" name="Text 17"/>
          <p:cNvSpPr/>
          <p:nvPr/>
        </p:nvSpPr>
        <p:spPr>
          <a:xfrm>
            <a:off x="546239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3202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7774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“¿Cuántos colegios públicos hay en Boyacá?”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682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77799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24" name="Shape 22"/>
          <p:cNvSpPr/>
          <p:nvPr/>
        </p:nvSpPr>
        <p:spPr>
          <a:xfrm>
            <a:off x="755408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5" name="Text 23"/>
          <p:cNvSpPr/>
          <p:nvPr/>
        </p:nvSpPr>
        <p:spPr>
          <a:xfrm>
            <a:off x="755408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371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6943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Modo voz + narración (Ley 1618)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02920" y="40690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7F97A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~4 minutos · Si la red falla: capturas de respaldo al final de este archivo.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EMERGENTES ·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razona, el motor verifica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B3C5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 generativa + arquitectura híbrida — pertinente, aplicable e interpretable. Nunca superficial.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 (IA)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155448" cy="155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 reportes administrativos separados (Ley 1712)</a:t>
            </a:r>
            <a:endParaRPr lang="en-US" sz="88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de columnas: LLM + heurísticas</a:t>
            </a:r>
            <a:endParaRPr lang="en-US" sz="88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36976"/>
            <a:ext cx="155448" cy="1554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cerrados (100 %)</a:t>
            </a:r>
            <a:endParaRPr lang="en-US" sz="88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21024"/>
            <a:ext cx="155448" cy="1554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Vocabulario: de 60+ etiquetas a 25 canónicas</a:t>
            </a:r>
            <a:endParaRPr lang="en-US" sz="88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05072"/>
            <a:ext cx="155448" cy="1554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 anti-basura ({{...}}) en toda la ingesta</a:t>
            </a:r>
            <a:endParaRPr lang="en-US" sz="880" dirty="0"/>
          </a:p>
        </p:txBody>
      </p:sp>
      <p:sp>
        <p:nvSpPr>
          <p:cNvPr id="18" name="Shape 11"/>
          <p:cNvSpPr/>
          <p:nvPr/>
        </p:nvSpPr>
        <p:spPr>
          <a:xfrm>
            <a:off x="329184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9" name="Text 12"/>
          <p:cNvSpPr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(IA)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468880"/>
            <a:ext cx="155448" cy="1554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0332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territorial DIVIPOLA (~89 %)</a:t>
            </a:r>
            <a:endParaRPr lang="en-US" sz="88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852928"/>
            <a:ext cx="155448" cy="1554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70332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ciudadano: ~130 equivalencias</a:t>
            </a:r>
            <a:endParaRPr lang="en-US" sz="88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236976"/>
            <a:ext cx="155448" cy="1554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70332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intención (6 tipos de respuesta)</a:t>
            </a:r>
            <a:endParaRPr lang="en-US" sz="88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21024"/>
            <a:ext cx="155448" cy="15544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370332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e5 + ChromaDB en ambos caminos</a:t>
            </a:r>
            <a:endParaRPr lang="en-US" sz="88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005072"/>
            <a:ext cx="155448" cy="1554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370332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semántico del camino estructurado</a:t>
            </a:r>
            <a:endParaRPr lang="en-US" sz="880" dirty="0"/>
          </a:p>
        </p:txBody>
      </p:sp>
      <p:sp>
        <p:nvSpPr>
          <p:cNvPr id="30" name="Shape 18"/>
          <p:cNvSpPr/>
          <p:nvPr/>
        </p:nvSpPr>
        <p:spPr>
          <a:xfrm>
            <a:off x="608076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1" name="Text 19"/>
          <p:cNvSpPr/>
          <p:nvPr/>
        </p:nvSpPr>
        <p:spPr>
          <a:xfrm>
            <a:off x="62636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GENERACIÓN VERIFICADA</a:t>
            </a:r>
            <a:endParaRPr lang="en-US" sz="1100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468880"/>
            <a:ext cx="155448" cy="155448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49224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con verificación de 3 capas (código)</a:t>
            </a:r>
            <a:endParaRPr lang="en-US" sz="88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852928"/>
            <a:ext cx="155448" cy="15544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49224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acotada; refusal si no verifica</a:t>
            </a:r>
            <a:endParaRPr lang="en-US" sz="88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36976"/>
            <a:ext cx="155448" cy="15544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49224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 (censura números ajenos)</a:t>
            </a:r>
            <a:endParaRPr lang="en-US" sz="88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21024"/>
            <a:ext cx="155448" cy="15544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49224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Parquet: decide local vs dato vivo</a:t>
            </a:r>
            <a:endParaRPr lang="en-US" sz="88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05072"/>
            <a:ext cx="155448" cy="15544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49224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para cualquier agente de IA</a:t>
            </a:r>
            <a:endParaRPr lang="en-US" sz="880" dirty="0"/>
          </a:p>
        </p:txBody>
      </p:sp>
      <p:sp>
        <p:nvSpPr>
          <p:cNvPr id="42" name="Text 2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pic>
        <p:nvPicPr>
          <p:cNvPr id="44" name="Graphic 43" descr="Logotipo de la Agencia Nacional de Infraestructura">
            <a:extLst>
              <a:ext uri="{FF2B5EF4-FFF2-40B4-BE49-F238E27FC236}">
                <a16:creationId xmlns:a16="http://schemas.microsoft.com/office/drawing/2014/main" id="{F9FE03AD-F7BD-8FAF-CB86-B09356C93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5" name="Graphic 44" descr="Imagen logo mintic">
            <a:extLst>
              <a:ext uri="{FF2B5EF4-FFF2-40B4-BE49-F238E27FC236}">
                <a16:creationId xmlns:a16="http://schemas.microsoft.com/office/drawing/2014/main" id="{011A5767-B666-2377-4786-31126F35A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RIGOR TÉCNICO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CRISP-ML(Q): qué se hizo en cada fase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 del decisor sin panorama; 6 portales y 3 protocolos (Socrata, CKAN, DCAT) mapeados como fuentes.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2219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diario con upsert idempotente (0 duplicados), clasificación Ley 1712, curación de columnas e inferencia DIVIPOLA.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2706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6" name="Text 14"/>
          <p:cNvSpPr/>
          <p:nvPr/>
        </p:nvSpPr>
        <p:spPr>
          <a:xfrm>
            <a:off x="62270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111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generativo + verificación de 3 capas; embeddings e5 + ChromaDB; clasificador de intención con 6 tipos de respuesta.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sets versionados (18/18 y 38/38, 0 falsos) + ciclo ciudadano: 50 preguntas pre-registradas; 39/50 mejoraron de dataset.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3814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6" name="Text 24"/>
          <p:cNvSpPr/>
          <p:nvPr/>
        </p:nvSpPr>
        <p:spPr>
          <a:xfrm>
            <a:off x="343814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2219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en datosvivos.co con Docker Compose reproducible; imagen horneada; guía de validación para el jurado.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2706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31" name="Text 29"/>
          <p:cNvSpPr/>
          <p:nvPr/>
        </p:nvSpPr>
        <p:spPr>
          <a:xfrm>
            <a:off x="622706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1111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Monitorear (Q)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4535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deriva del catálogo vivo: reindex nocturno, re-clasificación continua y telemetría anónima de lo consultado.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adaptación central: en vez de entrenar y congelar un modelo, cada consulta vive su propio ciclo — generación (LLM), verificación (código), ejecución.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F565F3C4-3574-18E0-8951-540E8328D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C8FB032-1B8C-0567-5E64-47E977005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DatosVivos demuestra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brecha no es de cantidad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25 mil datasets, el problema del dato abierto colombiano es de gobernanza y acceso: los datos existen, pero no se mantienen frescos y consultarlos exigía capacidades técnicas.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Medir cambia la conversación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comparar cada dataset contra la frecuencia que su propia entidad declaró, el incumplimiento deja de ser percepción y se vuelve un indicador gestionable por entidad y sector.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heterogeneidad se absorbe una vez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3 protocolos y metadata desigual con IA (curación, clasificación, inferencia) paga el costo de la federación una sola vez, para todos los usuarios.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70916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Nivel Avanzado, cumplido en producción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IA sobre grandes volúmenes (25 mil datasets, 6 fuentes), arquitectura híbrida LLM + verificación determinista, y despliegue funcional con actualización diaria: datosvivos.co.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honesta: el semáforo hereda la calidad de la frecuencia declarada — y eso también es un hallazgo: expone la calidad de la declaración.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22A4F4FF-D18D-CE34-B8E5-F1ED1242B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192D71FA-C5DF-53F0-E474-F37A9AD7EE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 Y ESCALABILIDAD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mismo dato, cuatro decisiones distintas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 la herramienta: es que cada actor del ecosistema pasa de no poder ver a poder actuar.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Entidad publicadora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sabía cuántos datasets tenía ni cuántos al día.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 rezago en segundos y sabe exactamente qué actualizar.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032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 de sector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1032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control sobre sus N entidades adscritas.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consolidado: compara, prioriza y gestiona el cumplimiento.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MinTIC / política pública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vivían separados, sin agregado.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nacional medible para las Hojas de Ruta de Datos Abiertos.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 y prensa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1032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dato exigía saber de APIs y SQL.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sus palabras y recibe cifra verificada con fuente.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110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Escala: </a:t>
            </a:r>
            <a:r>
              <a:rPr lang="en-US" sz="110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portal es configuración, no desarrollo — el patrón sirve a cualquier país con Socrata, CKAN o DCAT, y el MCP permite construir encima.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pic>
        <p:nvPicPr>
          <p:cNvPr id="21" name="Graphic 20" descr="Logotipo de la Agencia Nacional de Infraestructura">
            <a:extLst>
              <a:ext uri="{FF2B5EF4-FFF2-40B4-BE49-F238E27FC236}">
                <a16:creationId xmlns:a16="http://schemas.microsoft.com/office/drawing/2014/main" id="{97D48166-E617-5678-71CE-AD481C03CB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2" name="Graphic 21" descr="Imagen logo mintic">
            <a:extLst>
              <a:ext uri="{FF2B5EF4-FFF2-40B4-BE49-F238E27FC236}">
                <a16:creationId xmlns:a16="http://schemas.microsoft.com/office/drawing/2014/main" id="{57066EEC-2FA8-1EF9-77DC-FF060C56C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ya corre — julio 2026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~1.5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60604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la pregunta el motor de lenguaje (API de Claude); antes tomaba 31-45 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10.280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1228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bodega Parquet local — el buscador responde en milisegundos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0604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catalogación temática: 2.504 vacíos cerrados con clasificación semántica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81228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ciudadanas evaluadas por ciclos, convertidas en mejoras estructurales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22452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EAF2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sigue: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año y municipio dentro del dataset · respuestas compuestas (KPI + tendencia + per cápita).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pic>
        <p:nvPicPr>
          <p:cNvPr id="20" name="Graphic 19" descr="Logotipo de la Agencia Nacional de Infraestructura">
            <a:extLst>
              <a:ext uri="{FF2B5EF4-FFF2-40B4-BE49-F238E27FC236}">
                <a16:creationId xmlns:a16="http://schemas.microsoft.com/office/drawing/2014/main" id="{3ADA6928-4751-A073-A641-37F7ED98B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1" name="Graphic 20" descr="Imagen logo mintic">
            <a:extLst>
              <a:ext uri="{FF2B5EF4-FFF2-40B4-BE49-F238E27FC236}">
                <a16:creationId xmlns:a16="http://schemas.microsoft.com/office/drawing/2014/main" id="{D13CBDFE-9EC5-F815-35BD-5EAFA1DEC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02920" y="18745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vivo, verificable, para decidir.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4206240" cy="27432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169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jrico@ani.gov.co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310 419 6100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3009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" y="32644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Navarro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inavarro@ani.gov.co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8503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" y="36484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Hernán Gutiérrez 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hgutierrez@ani.gov.co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806440" y="132988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Pruébalo ahora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806440" y="1695649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14" name="Image 3" descr="qr_datosviv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1851097"/>
            <a:ext cx="2066544" cy="20665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806440" y="4164529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EC6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pic>
        <p:nvPicPr>
          <p:cNvPr id="18" name="Graphic 17" descr="Logotipo de la Agencia Nacional de Infraestructura">
            <a:extLst>
              <a:ext uri="{FF2B5EF4-FFF2-40B4-BE49-F238E27FC236}">
                <a16:creationId xmlns:a16="http://schemas.microsoft.com/office/drawing/2014/main" id="{70761055-9FC3-0866-4D86-B1061E4CE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9" name="Graphic 18" descr="Imagen logo mintic">
            <a:extLst>
              <a:ext uri="{FF2B5EF4-FFF2-40B4-BE49-F238E27FC236}">
                <a16:creationId xmlns:a16="http://schemas.microsoft.com/office/drawing/2014/main" id="{B6D1CAE9-AA23-03F7-71BD-09ACCC12BC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Arquitectura: de las fuentes a las cuatro puertas</a:t>
            </a:r>
            <a:endParaRPr lang="en-US" sz="2700" dirty="0"/>
          </a:p>
        </p:txBody>
      </p:sp>
      <p:pic>
        <p:nvPicPr>
          <p:cNvPr id="4" name="Image 0" descr="arch_diagr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81381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NL2SQL: generar no basta — hay que verificar</a:t>
            </a:r>
            <a:endParaRPr lang="en-US" sz="2700" dirty="0"/>
          </a:p>
        </p:txBody>
      </p:sp>
      <p:pic>
        <p:nvPicPr>
          <p:cNvPr id="4" name="Image 0" descr="pipelin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80160"/>
            <a:ext cx="8138160" cy="3616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datos: una vista curada como fuente única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que se ve en DatosVivos — el panorama web, el tablero Power BI, los CSV públicos y el buscador — se calcula desde la misma vista de PostgreSQL. Al existir una sola fuente de verdad, es imposible que las cuatro puertas se desalineen entre sí.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(42 columnas)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dataset del catálogo integrado. La carga usa upsert idempotente por identificador, y la auditoría confirmó cero duplicados de clave.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(29 variables)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analítica: identidad del dataset, semáforo de frescura, métricas de uso, tipo de acceso, territorio DIVIPOLA y bandera de calidad.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agregado por entidad con su porcentaje de datasets al día: el indicador de cumplimiento que un gerente puede gestionar directamente.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Bodega Parquet (10.280 datasets)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local de todos los tabulares viables. El buscador responde desde ella en milisegundos; si la fuente cambió, cae al dato vivo automáticamente.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datos: medida, no declarada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DatosVivos no es una promesa: cada afirmación tiene una auditoría o un proceso automático detrás, con reportes versionados que el jurado puede replicar.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columna a columna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18 columnas alcanzan 100 % de fidelidad contra la fuente Socrata, con reportes versionados en el repositorio.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continua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corrida del ETL, los reportes administrativos (Ley 1712) se separan automáticamente de los datos temáticos.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Catalogación temática al 100 %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se cerraron con clasificación semántica, y el vocabulario se consolidó de 60+ etiquetas a 25 canónicas.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Inferencia territorial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códigos DIVIPOLA se asignan con IA registrando el nivel de confianza; la cobertura alcanza cerca del 89 %.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Guardas anti-basura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metadata de plantilla sin diligenciar se detecta y limpia en todos los campos durante la ingesta, con guarda de recurrencia.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Diccionario ciudadano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equivalencias curadas (“colegios” → “establecimientos educativos”) cierran la brecha entre cómo pregunta la gente y cómo titula el Estado.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trazabilidad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se prueba en dos frentes: uno técnico, con casos de referencia versionados, y uno ciudadano, con preguntas reales cuya respuesta esperada se escribió antes de correrlas. Los patrones que fallan se convierten en mejoras estructurales y el ciclo se repite.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Golden sets versionados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chips de referencia en el repositorio, con corridas reproducibles. Últimos resultados: 18/18 y 38/38, cero falsos verificados.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Ciclo ciudadano de 50 preguntas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pregunta tiene respuesta esperada pre-registrada. Las fallas detectadas produjeron mejoras concretas: re-ranking semántico, respuesta de totales y honestidad de lejanía.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 archivos de pruebas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el verificador SoQL, el validador anti-alucinación, la reparación, la inferencia territorial, la cosecha, el MCP y las rutas de la API.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documentadas (ADRs)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públicos de decisión (017-024) trazan cada giro técnico, del principio “la IA razona, el motor verifica” al pivote panorama-decisor.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Soberanía, seguridad y cumplimiento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corre en infraestructura del Estado y solo toca datos que ya son públicos. El diseño protege a las personas y hace el sistema auditable de punta a punta.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Infraestructura del Estado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corre en una VM pública bajo VPN estatal; los datos consultados son públicos por definición.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datos personales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registro y cero rastreadores. La telemetría es agregada y anónima: mide qué se consulta, nunca quién.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 lectura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puede escribir en ninguna fuente; la verificación de solo-lectura es una de las tres capas del pipeline.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Repositorio abierto y auditable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documentación, pruebas y evaluación son públicos, replicables con Docker, con guía de validación para el jurado.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Accesibilidad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1618 de 2013 y WCAG 2.1 AA: entrada por voz, narración de resultados, alto contraste y escala tipográfica.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oficial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n.º 1074 registrado en herramientas.datos.gov.co (2026-07-13) como aporte formal al ecosistema.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2860</Words>
  <Application>Microsoft Macintosh PowerPoint</Application>
  <PresentationFormat>On-screen Show (16:9)</PresentationFormat>
  <Paragraphs>309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DatosVivos — Pitch Datos al Ecosistema 2026</dc:title>
  <dc:subject>PptxGenJS Presentation</dc:subject>
  <dc:creator>Equipo GIT TIC - ANI</dc:creator>
  <cp:lastModifiedBy>Jhonatan Sneider Rico Pinto</cp:lastModifiedBy>
  <cp:revision>7</cp:revision>
  <dcterms:created xsi:type="dcterms:W3CDTF">2026-07-14T01:17:44Z</dcterms:created>
  <dcterms:modified xsi:type="dcterms:W3CDTF">2026-07-14T02:10:20Z</dcterms:modified>
</cp:coreProperties>
</file>